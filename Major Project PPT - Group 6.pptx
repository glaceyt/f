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Times New Roman Bold" panose="02020803070505020304" pitchFamily="18"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04" d="100"/>
          <a:sy n="104" d="100"/>
        </p:scale>
        <p:origin x="474" y="1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52388"/>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a:stretch>
            </a:blipFill>
          </p:spPr>
        </p:sp>
      </p:grpSp>
      <p:sp>
        <p:nvSpPr>
          <p:cNvPr id="4" name="Freeform 4"/>
          <p:cNvSpPr/>
          <p:nvPr/>
        </p:nvSpPr>
        <p:spPr>
          <a:xfrm>
            <a:off x="-469382" y="4708750"/>
            <a:ext cx="9637366" cy="610391"/>
          </a:xfrm>
          <a:custGeom>
            <a:avLst/>
            <a:gdLst/>
            <a:ahLst/>
            <a:cxnLst/>
            <a:rect l="l" t="t" r="r" b="b"/>
            <a:pathLst>
              <a:path w="9637366" h="610391">
                <a:moveTo>
                  <a:pt x="0" y="0"/>
                </a:moveTo>
                <a:lnTo>
                  <a:pt x="9637366" y="0"/>
                </a:lnTo>
                <a:lnTo>
                  <a:pt x="9637366" y="610391"/>
                </a:lnTo>
                <a:lnTo>
                  <a:pt x="0" y="610391"/>
                </a:lnTo>
                <a:lnTo>
                  <a:pt x="0" y="0"/>
                </a:lnTo>
                <a:close/>
              </a:path>
            </a:pathLst>
          </a:custGeom>
          <a:blipFill>
            <a:blip r:embed="rId3">
              <a:extLst>
                <a:ext uri="{96DAC541-7B7A-43D3-8B79-37D633B846F1}">
                  <asvg:svgBlip xmlns:asvg="http://schemas.microsoft.com/office/drawing/2016/SVG/main" xmlns="" r:embed="rId4"/>
                </a:ext>
              </a:extLst>
            </a:blip>
            <a:stretch>
              <a:fillRect t="-705" b="-705"/>
            </a:stretch>
          </a:blipFill>
        </p:spPr>
      </p:sp>
      <p:grpSp>
        <p:nvGrpSpPr>
          <p:cNvPr id="5" name="Group 5"/>
          <p:cNvGrpSpPr/>
          <p:nvPr/>
        </p:nvGrpSpPr>
        <p:grpSpPr>
          <a:xfrm>
            <a:off x="13329628" y="1028700"/>
            <a:ext cx="3929634" cy="1237869"/>
            <a:chOff x="0" y="0"/>
            <a:chExt cx="5239512" cy="1650492"/>
          </a:xfrm>
        </p:grpSpPr>
        <p:sp>
          <p:nvSpPr>
            <p:cNvPr id="6" name="Freeform 6"/>
            <p:cNvSpPr/>
            <p:nvPr/>
          </p:nvSpPr>
          <p:spPr>
            <a:xfrm>
              <a:off x="0" y="0"/>
              <a:ext cx="5239512" cy="1650492"/>
            </a:xfrm>
            <a:custGeom>
              <a:avLst/>
              <a:gdLst/>
              <a:ahLst/>
              <a:cxnLst/>
              <a:rect l="l" t="t" r="r" b="b"/>
              <a:pathLst>
                <a:path w="5239512" h="1650492">
                  <a:moveTo>
                    <a:pt x="0" y="0"/>
                  </a:moveTo>
                  <a:lnTo>
                    <a:pt x="5239512" y="0"/>
                  </a:lnTo>
                  <a:lnTo>
                    <a:pt x="5239512" y="1650492"/>
                  </a:lnTo>
                  <a:lnTo>
                    <a:pt x="0" y="1650492"/>
                  </a:lnTo>
                  <a:lnTo>
                    <a:pt x="0" y="0"/>
                  </a:lnTo>
                  <a:close/>
                </a:path>
              </a:pathLst>
            </a:custGeom>
            <a:blipFill>
              <a:blip r:embed="rId5"/>
              <a:stretch>
                <a:fillRect t="-354" b="-353"/>
              </a:stretch>
            </a:blipFill>
          </p:spPr>
        </p:sp>
      </p:grpSp>
      <p:sp>
        <p:nvSpPr>
          <p:cNvPr id="7" name="TextBox 7"/>
          <p:cNvSpPr txBox="1"/>
          <p:nvPr/>
        </p:nvSpPr>
        <p:spPr>
          <a:xfrm>
            <a:off x="405003" y="2297335"/>
            <a:ext cx="11446354" cy="2526516"/>
          </a:xfrm>
          <a:prstGeom prst="rect">
            <a:avLst/>
          </a:prstGeom>
        </p:spPr>
        <p:txBody>
          <a:bodyPr lIns="0" tIns="0" rIns="0" bIns="0" rtlCol="0" anchor="t">
            <a:spAutoFit/>
          </a:bodyPr>
          <a:lstStyle/>
          <a:p>
            <a:pPr algn="l">
              <a:lnSpc>
                <a:spcPts val="6561"/>
              </a:lnSpc>
            </a:pPr>
            <a:r>
              <a:rPr lang="en-US" sz="5859" b="1" spc="11">
                <a:solidFill>
                  <a:srgbClr val="343434"/>
                </a:solidFill>
                <a:latin typeface="Times New Roman Bold"/>
                <a:ea typeface="Times New Roman Bold"/>
                <a:cs typeface="Times New Roman Bold"/>
                <a:sym typeface="Times New Roman Bold"/>
              </a:rPr>
              <a:t>Unsupervised and Semisupervised Machine Learning Frameworks for Multiclass Tool Wear Recognition</a:t>
            </a:r>
          </a:p>
        </p:txBody>
      </p:sp>
      <p:sp>
        <p:nvSpPr>
          <p:cNvPr id="8" name="TextBox 8"/>
          <p:cNvSpPr txBox="1"/>
          <p:nvPr/>
        </p:nvSpPr>
        <p:spPr>
          <a:xfrm>
            <a:off x="1135637" y="6177905"/>
            <a:ext cx="2554024" cy="641347"/>
          </a:xfrm>
          <a:prstGeom prst="rect">
            <a:avLst/>
          </a:prstGeom>
        </p:spPr>
        <p:txBody>
          <a:bodyPr lIns="0" tIns="0" rIns="0" bIns="0" rtlCol="0" anchor="t">
            <a:spAutoFit/>
          </a:bodyPr>
          <a:lstStyle/>
          <a:p>
            <a:pPr algn="l">
              <a:lnSpc>
                <a:spcPts val="3499"/>
              </a:lnSpc>
            </a:pPr>
            <a:r>
              <a:rPr lang="en-US" sz="2499" b="1" u="sng" spc="124">
                <a:solidFill>
                  <a:srgbClr val="343434"/>
                </a:solidFill>
                <a:latin typeface="Times New Roman Bold"/>
                <a:ea typeface="Times New Roman Bold"/>
                <a:cs typeface="Times New Roman Bold"/>
                <a:sym typeface="Times New Roman Bold"/>
              </a:rPr>
              <a:t>Presented By:</a:t>
            </a:r>
          </a:p>
        </p:txBody>
      </p:sp>
      <p:sp>
        <p:nvSpPr>
          <p:cNvPr id="9" name="TextBox 9"/>
          <p:cNvSpPr txBox="1"/>
          <p:nvPr/>
        </p:nvSpPr>
        <p:spPr>
          <a:xfrm>
            <a:off x="1159621" y="6759921"/>
            <a:ext cx="5425859" cy="2385412"/>
          </a:xfrm>
          <a:prstGeom prst="rect">
            <a:avLst/>
          </a:prstGeom>
        </p:spPr>
        <p:txBody>
          <a:bodyPr lIns="0" tIns="0" rIns="0" bIns="0" rtlCol="0" anchor="t">
            <a:spAutoFit/>
          </a:bodyPr>
          <a:lstStyle/>
          <a:p>
            <a:pPr algn="just">
              <a:lnSpc>
                <a:spcPts val="3444"/>
              </a:lnSpc>
            </a:pPr>
            <a:r>
              <a:rPr lang="en-US" sz="2461" b="1" spc="123">
                <a:solidFill>
                  <a:srgbClr val="343434"/>
                </a:solidFill>
                <a:latin typeface="Times New Roman Bold"/>
                <a:ea typeface="Times New Roman Bold"/>
                <a:cs typeface="Times New Roman Bold"/>
                <a:sym typeface="Times New Roman Bold"/>
              </a:rPr>
              <a:t>P. Shiva Charan  (22D41A7296) </a:t>
            </a:r>
          </a:p>
          <a:p>
            <a:pPr algn="just">
              <a:lnSpc>
                <a:spcPts val="3444"/>
              </a:lnSpc>
            </a:pPr>
            <a:r>
              <a:rPr lang="en-US" sz="2461" b="1" spc="123">
                <a:solidFill>
                  <a:srgbClr val="343434"/>
                </a:solidFill>
                <a:latin typeface="Times New Roman Bold"/>
                <a:ea typeface="Times New Roman Bold"/>
                <a:cs typeface="Times New Roman Bold"/>
                <a:sym typeface="Times New Roman Bold"/>
              </a:rPr>
              <a:t>N. Harini            (22D41A7285) </a:t>
            </a:r>
          </a:p>
          <a:p>
            <a:pPr algn="just">
              <a:lnSpc>
                <a:spcPts val="3444"/>
              </a:lnSpc>
            </a:pPr>
            <a:r>
              <a:rPr lang="en-US" sz="2461" b="1" spc="123">
                <a:solidFill>
                  <a:srgbClr val="343434"/>
                </a:solidFill>
                <a:latin typeface="Times New Roman Bold"/>
                <a:ea typeface="Times New Roman Bold"/>
                <a:cs typeface="Times New Roman Bold"/>
                <a:sym typeface="Times New Roman Bold"/>
              </a:rPr>
              <a:t>P. Sanjana           (22D41A7291) </a:t>
            </a:r>
          </a:p>
          <a:p>
            <a:pPr algn="just">
              <a:lnSpc>
                <a:spcPts val="3444"/>
              </a:lnSpc>
            </a:pPr>
            <a:r>
              <a:rPr lang="en-US" sz="2461" b="1" spc="123">
                <a:solidFill>
                  <a:srgbClr val="343434"/>
                </a:solidFill>
                <a:latin typeface="Times New Roman Bold"/>
                <a:ea typeface="Times New Roman Bold"/>
                <a:cs typeface="Times New Roman Bold"/>
                <a:sym typeface="Times New Roman Bold"/>
              </a:rPr>
              <a:t>Y. Sunil Reddy    (22D41A72C7) </a:t>
            </a:r>
          </a:p>
          <a:p>
            <a:pPr algn="just">
              <a:lnSpc>
                <a:spcPts val="3444"/>
              </a:lnSpc>
            </a:pPr>
            <a:endParaRPr lang="en-US" sz="2461" b="1" spc="123">
              <a:solidFill>
                <a:srgbClr val="343434"/>
              </a:solidFill>
              <a:latin typeface="Times New Roman Bold"/>
              <a:ea typeface="Times New Roman Bold"/>
              <a:cs typeface="Times New Roman Bold"/>
              <a:sym typeface="Times New Roman Bold"/>
            </a:endParaRPr>
          </a:p>
        </p:txBody>
      </p:sp>
      <p:sp>
        <p:nvSpPr>
          <p:cNvPr id="10" name="TextBox 10"/>
          <p:cNvSpPr txBox="1"/>
          <p:nvPr/>
        </p:nvSpPr>
        <p:spPr>
          <a:xfrm>
            <a:off x="12574981" y="7059463"/>
            <a:ext cx="2554024" cy="641347"/>
          </a:xfrm>
          <a:prstGeom prst="rect">
            <a:avLst/>
          </a:prstGeom>
        </p:spPr>
        <p:txBody>
          <a:bodyPr lIns="0" tIns="0" rIns="0" bIns="0" rtlCol="0" anchor="t">
            <a:spAutoFit/>
          </a:bodyPr>
          <a:lstStyle/>
          <a:p>
            <a:pPr algn="l">
              <a:lnSpc>
                <a:spcPts val="3499"/>
              </a:lnSpc>
            </a:pPr>
            <a:r>
              <a:rPr lang="en-US" sz="2499" b="1" u="sng" spc="124">
                <a:solidFill>
                  <a:srgbClr val="343434"/>
                </a:solidFill>
                <a:latin typeface="Times New Roman Bold"/>
                <a:ea typeface="Times New Roman Bold"/>
                <a:cs typeface="Times New Roman Bold"/>
                <a:sym typeface="Times New Roman Bold"/>
              </a:rPr>
              <a:t>Guide :</a:t>
            </a:r>
          </a:p>
        </p:txBody>
      </p:sp>
      <p:sp>
        <p:nvSpPr>
          <p:cNvPr id="11" name="TextBox 11"/>
          <p:cNvSpPr txBox="1"/>
          <p:nvPr/>
        </p:nvSpPr>
        <p:spPr>
          <a:xfrm>
            <a:off x="14135433" y="7021363"/>
            <a:ext cx="3123867" cy="670912"/>
          </a:xfrm>
          <a:prstGeom prst="rect">
            <a:avLst/>
          </a:prstGeom>
        </p:spPr>
        <p:txBody>
          <a:bodyPr lIns="0" tIns="0" rIns="0" bIns="0" rtlCol="0" anchor="t">
            <a:spAutoFit/>
          </a:bodyPr>
          <a:lstStyle/>
          <a:p>
            <a:pPr algn="just">
              <a:lnSpc>
                <a:spcPts val="3444"/>
              </a:lnSpc>
            </a:pPr>
            <a:r>
              <a:rPr lang="en-US" sz="2461" b="1" spc="123">
                <a:solidFill>
                  <a:srgbClr val="343434"/>
                </a:solidFill>
                <a:latin typeface="Times New Roman Bold"/>
                <a:ea typeface="Times New Roman Bold"/>
                <a:cs typeface="Times New Roman Bold"/>
                <a:sym typeface="Times New Roman Bold"/>
              </a:rPr>
              <a:t>R. Madhava Reddy</a:t>
            </a:r>
          </a:p>
        </p:txBody>
      </p:sp>
      <p:sp>
        <p:nvSpPr>
          <p:cNvPr id="12" name="TextBox 12"/>
          <p:cNvSpPr txBox="1"/>
          <p:nvPr/>
        </p:nvSpPr>
        <p:spPr>
          <a:xfrm>
            <a:off x="12574981" y="8029823"/>
            <a:ext cx="2554024" cy="641347"/>
          </a:xfrm>
          <a:prstGeom prst="rect">
            <a:avLst/>
          </a:prstGeom>
        </p:spPr>
        <p:txBody>
          <a:bodyPr lIns="0" tIns="0" rIns="0" bIns="0" rtlCol="0" anchor="t">
            <a:spAutoFit/>
          </a:bodyPr>
          <a:lstStyle/>
          <a:p>
            <a:pPr algn="l">
              <a:lnSpc>
                <a:spcPts val="3499"/>
              </a:lnSpc>
            </a:pPr>
            <a:r>
              <a:rPr lang="en-US" sz="2499" b="1" u="sng" spc="124">
                <a:solidFill>
                  <a:srgbClr val="343434"/>
                </a:solidFill>
                <a:latin typeface="Times New Roman Bold"/>
                <a:ea typeface="Times New Roman Bold"/>
                <a:cs typeface="Times New Roman Bold"/>
                <a:sym typeface="Times New Roman Bold"/>
              </a:rPr>
              <a:t>Batch No :</a:t>
            </a:r>
          </a:p>
        </p:txBody>
      </p:sp>
      <p:sp>
        <p:nvSpPr>
          <p:cNvPr id="13" name="TextBox 13"/>
          <p:cNvSpPr txBox="1"/>
          <p:nvPr/>
        </p:nvSpPr>
        <p:spPr>
          <a:xfrm>
            <a:off x="14403057" y="8000267"/>
            <a:ext cx="725948" cy="670912"/>
          </a:xfrm>
          <a:prstGeom prst="rect">
            <a:avLst/>
          </a:prstGeom>
        </p:spPr>
        <p:txBody>
          <a:bodyPr lIns="0" tIns="0" rIns="0" bIns="0" rtlCol="0" anchor="t">
            <a:spAutoFit/>
          </a:bodyPr>
          <a:lstStyle/>
          <a:p>
            <a:pPr algn="just">
              <a:lnSpc>
                <a:spcPts val="3444"/>
              </a:lnSpc>
            </a:pPr>
            <a:r>
              <a:rPr lang="en-US" sz="2461" b="1" spc="123">
                <a:solidFill>
                  <a:srgbClr val="343434"/>
                </a:solidFill>
                <a:latin typeface="Times New Roman Bold"/>
                <a:ea typeface="Times New Roman Bold"/>
                <a:cs typeface="Times New Roman Bold"/>
                <a:sym typeface="Times New Roman Bold"/>
              </a:rPr>
              <a:t>06</a:t>
            </a:r>
          </a:p>
        </p:txBody>
      </p:sp>
      <p:sp>
        <p:nvSpPr>
          <p:cNvPr id="14" name="TextBox 14"/>
          <p:cNvSpPr txBox="1"/>
          <p:nvPr/>
        </p:nvSpPr>
        <p:spPr>
          <a:xfrm>
            <a:off x="14020800" y="7401335"/>
            <a:ext cx="3784263" cy="617963"/>
          </a:xfrm>
          <a:prstGeom prst="rect">
            <a:avLst/>
          </a:prstGeom>
        </p:spPr>
        <p:txBody>
          <a:bodyPr lIns="0" tIns="0" rIns="0" bIns="0" rtlCol="0" anchor="t">
            <a:spAutoFit/>
          </a:bodyPr>
          <a:lstStyle/>
          <a:p>
            <a:pPr algn="just">
              <a:lnSpc>
                <a:spcPts val="3444"/>
              </a:lnSpc>
            </a:pPr>
            <a:r>
              <a:rPr lang="en-US" sz="2461" b="1" spc="123">
                <a:solidFill>
                  <a:srgbClr val="343434"/>
                </a:solidFill>
                <a:latin typeface="Times New Roman Bold"/>
                <a:ea typeface="Times New Roman Bold"/>
                <a:cs typeface="Times New Roman Bold"/>
                <a:sym typeface="Times New Roman Bold"/>
              </a:rPr>
              <a:t>(Assistant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398575" y="2108997"/>
            <a:ext cx="7243467"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TABLE CONTENTS</a:t>
            </a:r>
          </a:p>
        </p:txBody>
      </p:sp>
      <p:grpSp>
        <p:nvGrpSpPr>
          <p:cNvPr id="5" name="Group 5"/>
          <p:cNvGrpSpPr/>
          <p:nvPr/>
        </p:nvGrpSpPr>
        <p:grpSpPr>
          <a:xfrm>
            <a:off x="1398575" y="2843774"/>
            <a:ext cx="14414373" cy="66675"/>
            <a:chOff x="0" y="0"/>
            <a:chExt cx="19219164" cy="88900"/>
          </a:xfrm>
        </p:grpSpPr>
        <p:sp>
          <p:nvSpPr>
            <p:cNvPr id="6" name="Freeform 6"/>
            <p:cNvSpPr/>
            <p:nvPr/>
          </p:nvSpPr>
          <p:spPr>
            <a:xfrm>
              <a:off x="0" y="0"/>
              <a:ext cx="19219163" cy="88900"/>
            </a:xfrm>
            <a:custGeom>
              <a:avLst/>
              <a:gdLst/>
              <a:ahLst/>
              <a:cxnLst/>
              <a:rect l="l" t="t" r="r" b="b"/>
              <a:pathLst>
                <a:path w="19219163" h="88900">
                  <a:moveTo>
                    <a:pt x="19050" y="0"/>
                  </a:moveTo>
                  <a:lnTo>
                    <a:pt x="19200113" y="50800"/>
                  </a:lnTo>
                  <a:cubicBezTo>
                    <a:pt x="19210654" y="50800"/>
                    <a:pt x="19219163" y="59436"/>
                    <a:pt x="19219163" y="69850"/>
                  </a:cubicBezTo>
                  <a:cubicBezTo>
                    <a:pt x="19219163" y="80264"/>
                    <a:pt x="19210527" y="88900"/>
                    <a:pt x="19200113" y="88900"/>
                  </a:cubicBezTo>
                  <a:lnTo>
                    <a:pt x="19050" y="38100"/>
                  </a:lnTo>
                  <a:cubicBezTo>
                    <a:pt x="8509" y="38100"/>
                    <a:pt x="0" y="29464"/>
                    <a:pt x="0" y="19050"/>
                  </a:cubicBezTo>
                  <a:cubicBezTo>
                    <a:pt x="0" y="8636"/>
                    <a:pt x="8636" y="0"/>
                    <a:pt x="19050" y="0"/>
                  </a:cubicBezTo>
                  <a:close/>
                </a:path>
              </a:pathLst>
            </a:custGeom>
            <a:solidFill>
              <a:srgbClr val="000000"/>
            </a:solidFill>
          </p:spPr>
        </p:sp>
      </p:grpSp>
      <p:sp>
        <p:nvSpPr>
          <p:cNvPr id="7" name="TextBox 7"/>
          <p:cNvSpPr txBox="1"/>
          <p:nvPr/>
        </p:nvSpPr>
        <p:spPr>
          <a:xfrm>
            <a:off x="1398575" y="2952750"/>
            <a:ext cx="6300521" cy="7007228"/>
          </a:xfrm>
          <a:prstGeom prst="rect">
            <a:avLst/>
          </a:prstGeom>
        </p:spPr>
        <p:txBody>
          <a:bodyPr lIns="0" tIns="0" rIns="0" bIns="0" rtlCol="0" anchor="t">
            <a:spAutoFit/>
          </a:bodyPr>
          <a:lstStyle/>
          <a:p>
            <a:pPr marL="1333522" lvl="5" indent="-222254" algn="l">
              <a:lnSpc>
                <a:spcPts val="4900"/>
              </a:lnSpc>
              <a:buFont typeface="Arial"/>
              <a:buChar char="⚬"/>
            </a:pPr>
            <a:r>
              <a:rPr lang="en-US" sz="3500" spc="175">
                <a:solidFill>
                  <a:srgbClr val="343434"/>
                </a:solidFill>
                <a:latin typeface="Times New Roman"/>
                <a:ea typeface="Times New Roman"/>
                <a:cs typeface="Times New Roman"/>
                <a:sym typeface="Times New Roman"/>
              </a:rPr>
              <a:t>Abstract</a:t>
            </a:r>
          </a:p>
          <a:p>
            <a:pPr marL="1333522" lvl="5" indent="-222254" algn="l">
              <a:lnSpc>
                <a:spcPts val="4900"/>
              </a:lnSpc>
              <a:buFont typeface="Arial"/>
              <a:buChar char="⚬"/>
            </a:pPr>
            <a:r>
              <a:rPr lang="en-US" sz="3500" spc="175">
                <a:solidFill>
                  <a:srgbClr val="343434"/>
                </a:solidFill>
                <a:latin typeface="Times New Roman"/>
                <a:ea typeface="Times New Roman"/>
                <a:cs typeface="Times New Roman"/>
                <a:sym typeface="Times New Roman"/>
              </a:rPr>
              <a:t>Introduction</a:t>
            </a:r>
          </a:p>
          <a:p>
            <a:pPr marL="1333522" lvl="5" indent="-222254" algn="l">
              <a:lnSpc>
                <a:spcPts val="4900"/>
              </a:lnSpc>
              <a:buFont typeface="Arial"/>
              <a:buChar char="⚬"/>
            </a:pPr>
            <a:r>
              <a:rPr lang="en-US" sz="3500" spc="175">
                <a:solidFill>
                  <a:srgbClr val="343434"/>
                </a:solidFill>
                <a:latin typeface="Times New Roman"/>
                <a:ea typeface="Times New Roman"/>
                <a:cs typeface="Times New Roman"/>
                <a:sym typeface="Times New Roman"/>
              </a:rPr>
              <a:t>Existing System</a:t>
            </a:r>
          </a:p>
          <a:p>
            <a:pPr marL="1333522" lvl="5" indent="-222254" algn="l">
              <a:lnSpc>
                <a:spcPts val="4900"/>
              </a:lnSpc>
              <a:buFont typeface="Arial"/>
              <a:buChar char="⚬"/>
            </a:pPr>
            <a:r>
              <a:rPr lang="en-US" sz="3500" spc="175">
                <a:solidFill>
                  <a:srgbClr val="343434"/>
                </a:solidFill>
                <a:latin typeface="Times New Roman"/>
                <a:ea typeface="Times New Roman"/>
                <a:cs typeface="Times New Roman"/>
                <a:sym typeface="Times New Roman"/>
              </a:rPr>
              <a:t>Disadvantages</a:t>
            </a:r>
          </a:p>
          <a:p>
            <a:pPr marL="1333522" lvl="5" indent="-222254" algn="l">
              <a:lnSpc>
                <a:spcPts val="4900"/>
              </a:lnSpc>
              <a:buFont typeface="Arial"/>
              <a:buChar char="⚬"/>
            </a:pPr>
            <a:r>
              <a:rPr lang="en-US" sz="3500" spc="175">
                <a:solidFill>
                  <a:srgbClr val="343434"/>
                </a:solidFill>
                <a:latin typeface="Times New Roman"/>
                <a:ea typeface="Times New Roman"/>
                <a:cs typeface="Times New Roman"/>
                <a:sym typeface="Times New Roman"/>
              </a:rPr>
              <a:t>Proposed System</a:t>
            </a:r>
          </a:p>
          <a:p>
            <a:pPr marL="1333522" lvl="5" indent="-222254" algn="l">
              <a:lnSpc>
                <a:spcPts val="4900"/>
              </a:lnSpc>
              <a:buFont typeface="Arial"/>
              <a:buChar char="⚬"/>
            </a:pPr>
            <a:r>
              <a:rPr lang="en-US" sz="3500" spc="175">
                <a:solidFill>
                  <a:srgbClr val="343434"/>
                </a:solidFill>
                <a:latin typeface="Times New Roman"/>
                <a:ea typeface="Times New Roman"/>
                <a:cs typeface="Times New Roman"/>
                <a:sym typeface="Times New Roman"/>
              </a:rPr>
              <a:t>Advantages</a:t>
            </a:r>
          </a:p>
          <a:p>
            <a:pPr marL="1333501" lvl="5" indent="-222250" algn="l">
              <a:lnSpc>
                <a:spcPts val="4900"/>
              </a:lnSpc>
              <a:buFont typeface="Arial"/>
              <a:buChar char="⚬"/>
            </a:pPr>
            <a:r>
              <a:rPr lang="en-US" sz="3500" spc="175">
                <a:solidFill>
                  <a:srgbClr val="343434"/>
                </a:solidFill>
                <a:latin typeface="Times New Roman"/>
                <a:ea typeface="Times New Roman"/>
                <a:cs typeface="Times New Roman"/>
                <a:sym typeface="Times New Roman"/>
              </a:rPr>
              <a:t>System Requirements</a:t>
            </a:r>
          </a:p>
          <a:p>
            <a:pPr marL="1333501" lvl="5" indent="-222250" algn="l">
              <a:lnSpc>
                <a:spcPts val="4900"/>
              </a:lnSpc>
              <a:buFont typeface="Arial"/>
              <a:buChar char="⚬"/>
            </a:pPr>
            <a:r>
              <a:rPr lang="en-US" sz="3500" spc="175">
                <a:solidFill>
                  <a:srgbClr val="343434"/>
                </a:solidFill>
                <a:latin typeface="Times New Roman"/>
                <a:ea typeface="Times New Roman"/>
                <a:cs typeface="Times New Roman"/>
                <a:sym typeface="Times New Roman"/>
              </a:rPr>
              <a:t>Modules</a:t>
            </a:r>
          </a:p>
          <a:p>
            <a:pPr marL="1333501" lvl="5" indent="-222250" algn="l">
              <a:lnSpc>
                <a:spcPts val="4900"/>
              </a:lnSpc>
              <a:buFont typeface="Arial"/>
              <a:buChar char="⚬"/>
            </a:pPr>
            <a:r>
              <a:rPr lang="en-US" sz="3500" spc="175">
                <a:solidFill>
                  <a:srgbClr val="343434"/>
                </a:solidFill>
                <a:latin typeface="Times New Roman"/>
                <a:ea typeface="Times New Roman"/>
                <a:cs typeface="Times New Roman"/>
                <a:sym typeface="Times New Roman"/>
              </a:rPr>
              <a:t>System Architecture</a:t>
            </a:r>
          </a:p>
          <a:p>
            <a:pPr marL="1333501" lvl="5" indent="-222250" algn="l">
              <a:lnSpc>
                <a:spcPts val="4900"/>
              </a:lnSpc>
              <a:buFont typeface="Arial"/>
              <a:buChar char="⚬"/>
            </a:pPr>
            <a:r>
              <a:rPr lang="en-US" sz="3500" spc="175">
                <a:solidFill>
                  <a:srgbClr val="343434"/>
                </a:solidFill>
                <a:latin typeface="Times New Roman"/>
                <a:ea typeface="Times New Roman"/>
                <a:cs typeface="Times New Roman"/>
                <a:sym typeface="Times New Roman"/>
              </a:rPr>
              <a:t>UML Diagrams</a:t>
            </a:r>
          </a:p>
          <a:p>
            <a:pPr marL="1333522" lvl="5" indent="-222254" algn="l">
              <a:lnSpc>
                <a:spcPts val="4900"/>
              </a:lnSpc>
              <a:buFont typeface="Arial"/>
              <a:buChar char="⚬"/>
            </a:pPr>
            <a:r>
              <a:rPr lang="en-US" sz="3500" spc="175">
                <a:solidFill>
                  <a:srgbClr val="343434"/>
                </a:solidFill>
                <a:latin typeface="Times New Roman"/>
                <a:ea typeface="Times New Roman"/>
                <a:cs typeface="Times New Roman"/>
                <a:sym typeface="Times New Roman"/>
              </a:rPr>
              <a:t>Conclusion</a:t>
            </a:r>
          </a:p>
        </p:txBody>
      </p:sp>
      <p:grpSp>
        <p:nvGrpSpPr>
          <p:cNvPr id="8" name="Group 8"/>
          <p:cNvGrpSpPr/>
          <p:nvPr/>
        </p:nvGrpSpPr>
        <p:grpSpPr>
          <a:xfrm>
            <a:off x="0" y="-52388"/>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612354" y="2180320"/>
            <a:ext cx="4315025"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ABSTRACT</a:t>
            </a:r>
          </a:p>
        </p:txBody>
      </p:sp>
      <p:grpSp>
        <p:nvGrpSpPr>
          <p:cNvPr id="5" name="Group 5"/>
          <p:cNvGrpSpPr/>
          <p:nvPr/>
        </p:nvGrpSpPr>
        <p:grpSpPr>
          <a:xfrm>
            <a:off x="1612354" y="2971800"/>
            <a:ext cx="14620875" cy="66675"/>
            <a:chOff x="0" y="0"/>
            <a:chExt cx="19494500" cy="88900"/>
          </a:xfrm>
        </p:grpSpPr>
        <p:sp>
          <p:nvSpPr>
            <p:cNvPr id="6" name="Freeform 6"/>
            <p:cNvSpPr/>
            <p:nvPr/>
          </p:nvSpPr>
          <p:spPr>
            <a:xfrm>
              <a:off x="0" y="0"/>
              <a:ext cx="19494500" cy="88900"/>
            </a:xfrm>
            <a:custGeom>
              <a:avLst/>
              <a:gdLst/>
              <a:ahLst/>
              <a:cxnLst/>
              <a:rect l="l" t="t" r="r" b="b"/>
              <a:pathLst>
                <a:path w="19494500" h="88900">
                  <a:moveTo>
                    <a:pt x="19050" y="0"/>
                  </a:moveTo>
                  <a:lnTo>
                    <a:pt x="19475450" y="50800"/>
                  </a:lnTo>
                  <a:cubicBezTo>
                    <a:pt x="19485990" y="50800"/>
                    <a:pt x="19494500" y="59436"/>
                    <a:pt x="19494500" y="69850"/>
                  </a:cubicBezTo>
                  <a:cubicBezTo>
                    <a:pt x="19494500" y="80264"/>
                    <a:pt x="19485863" y="88900"/>
                    <a:pt x="19475450" y="88900"/>
                  </a:cubicBezTo>
                  <a:lnTo>
                    <a:pt x="19050" y="38100"/>
                  </a:lnTo>
                  <a:cubicBezTo>
                    <a:pt x="8509" y="38100"/>
                    <a:pt x="0" y="29464"/>
                    <a:pt x="0" y="19050"/>
                  </a:cubicBezTo>
                  <a:cubicBezTo>
                    <a:pt x="0" y="8636"/>
                    <a:pt x="8636" y="0"/>
                    <a:pt x="19050" y="0"/>
                  </a:cubicBezTo>
                  <a:close/>
                </a:path>
              </a:pathLst>
            </a:custGeom>
            <a:solidFill>
              <a:srgbClr val="000000"/>
            </a:solidFill>
          </p:spPr>
        </p:sp>
      </p:grpSp>
      <p:sp>
        <p:nvSpPr>
          <p:cNvPr id="7" name="TextBox 7"/>
          <p:cNvSpPr txBox="1"/>
          <p:nvPr/>
        </p:nvSpPr>
        <p:spPr>
          <a:xfrm>
            <a:off x="1679029" y="3232318"/>
            <a:ext cx="14554200" cy="5374700"/>
          </a:xfrm>
          <a:prstGeom prst="rect">
            <a:avLst/>
          </a:prstGeom>
        </p:spPr>
        <p:txBody>
          <a:bodyPr lIns="0" tIns="0" rIns="0" bIns="0" rtlCol="0" anchor="t">
            <a:spAutoFit/>
          </a:bodyPr>
          <a:lstStyle/>
          <a:p>
            <a:pPr algn="just">
              <a:lnSpc>
                <a:spcPts val="4578"/>
              </a:lnSpc>
            </a:pPr>
            <a:r>
              <a:rPr lang="en-US" sz="3270" spc="162">
                <a:solidFill>
                  <a:srgbClr val="343434"/>
                </a:solidFill>
                <a:latin typeface="Times New Roman"/>
                <a:ea typeface="Times New Roman"/>
                <a:cs typeface="Times New Roman"/>
                <a:sym typeface="Times New Roman"/>
              </a:rPr>
              <a:t>Tool Condition Monitoring (TCM) is essential for maintaining product quality and reducing machine downtime in manufacturing. Traditional TCM systems depend on supervised learning models that require large amounts of labeled data, which are costly and difficult to obtain. This project introduces unsupervised and semi-supervised machine learning frameworks for multiclass tool wear recognition, capable of working effectively with limited or unlabeled data. Using advanced methods like SAE, SSAE, SOM, SVM, and Random Forest, and combining data from microphone and accelerometer sensors, the system accurately detects multiple stages of tool wear. </a:t>
            </a:r>
          </a:p>
        </p:txBody>
      </p:sp>
      <p:grpSp>
        <p:nvGrpSpPr>
          <p:cNvPr id="8" name="Group 8"/>
          <p:cNvGrpSpPr/>
          <p:nvPr/>
        </p:nvGrpSpPr>
        <p:grpSpPr>
          <a:xfrm>
            <a:off x="0" y="0"/>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662112" y="2084918"/>
            <a:ext cx="6339678"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INTRODUCTION</a:t>
            </a:r>
          </a:p>
        </p:txBody>
      </p:sp>
      <p:sp>
        <p:nvSpPr>
          <p:cNvPr id="5" name="TextBox 5"/>
          <p:cNvSpPr txBox="1"/>
          <p:nvPr/>
        </p:nvSpPr>
        <p:spPr>
          <a:xfrm>
            <a:off x="1662112" y="3172597"/>
            <a:ext cx="14554200" cy="5374700"/>
          </a:xfrm>
          <a:prstGeom prst="rect">
            <a:avLst/>
          </a:prstGeom>
        </p:spPr>
        <p:txBody>
          <a:bodyPr lIns="0" tIns="0" rIns="0" bIns="0" rtlCol="0" anchor="t">
            <a:spAutoFit/>
          </a:bodyPr>
          <a:lstStyle/>
          <a:p>
            <a:pPr algn="just">
              <a:lnSpc>
                <a:spcPts val="4578"/>
              </a:lnSpc>
            </a:pPr>
            <a:r>
              <a:rPr lang="en-US" sz="3270" spc="162">
                <a:solidFill>
                  <a:srgbClr val="343434"/>
                </a:solidFill>
                <a:latin typeface="Times New Roman"/>
                <a:ea typeface="Times New Roman"/>
                <a:cs typeface="Times New Roman"/>
                <a:sym typeface="Times New Roman"/>
              </a:rPr>
              <a:t>In modern manufacturing, monitoring cutting tool conditions is vital for maintaining product quality and minimizing downtime. Traditional Tool Condition Monitoring (TCM) systems depend on supervised learning methods that require large labeled datasets, which are costly and time-consuming to produce. This project develops unsupervised and semi-supervised machine learning frameworks to recognize multiple stages of tool wear using minimal or no labeled data. By combining microphone and accelerometer sensor data with advanced algorithms like SAE, SSAE, SOM, and SVM, the system enables accurate and efficient tool wear prediction.</a:t>
            </a:r>
          </a:p>
        </p:txBody>
      </p:sp>
      <p:grpSp>
        <p:nvGrpSpPr>
          <p:cNvPr id="6" name="Group 6"/>
          <p:cNvGrpSpPr/>
          <p:nvPr/>
        </p:nvGrpSpPr>
        <p:grpSpPr>
          <a:xfrm>
            <a:off x="1662112" y="2895600"/>
            <a:ext cx="14620875" cy="66675"/>
            <a:chOff x="0" y="0"/>
            <a:chExt cx="19494500" cy="88900"/>
          </a:xfrm>
        </p:grpSpPr>
        <p:sp>
          <p:nvSpPr>
            <p:cNvPr id="7" name="Freeform 7"/>
            <p:cNvSpPr/>
            <p:nvPr/>
          </p:nvSpPr>
          <p:spPr>
            <a:xfrm>
              <a:off x="0" y="0"/>
              <a:ext cx="19494500" cy="88900"/>
            </a:xfrm>
            <a:custGeom>
              <a:avLst/>
              <a:gdLst/>
              <a:ahLst/>
              <a:cxnLst/>
              <a:rect l="l" t="t" r="r" b="b"/>
              <a:pathLst>
                <a:path w="19494500" h="88900">
                  <a:moveTo>
                    <a:pt x="19050" y="0"/>
                  </a:moveTo>
                  <a:lnTo>
                    <a:pt x="19475450" y="50800"/>
                  </a:lnTo>
                  <a:cubicBezTo>
                    <a:pt x="19485990" y="50800"/>
                    <a:pt x="19494500" y="59436"/>
                    <a:pt x="19494500" y="69850"/>
                  </a:cubicBezTo>
                  <a:cubicBezTo>
                    <a:pt x="19494500" y="80264"/>
                    <a:pt x="19485863" y="88900"/>
                    <a:pt x="19475450" y="88900"/>
                  </a:cubicBezTo>
                  <a:lnTo>
                    <a:pt x="19050" y="38100"/>
                  </a:lnTo>
                  <a:cubicBezTo>
                    <a:pt x="8509" y="38100"/>
                    <a:pt x="0" y="29464"/>
                    <a:pt x="0" y="19050"/>
                  </a:cubicBezTo>
                  <a:cubicBezTo>
                    <a:pt x="0" y="8636"/>
                    <a:pt x="8636" y="0"/>
                    <a:pt x="19050" y="0"/>
                  </a:cubicBezTo>
                  <a:close/>
                </a:path>
              </a:pathLst>
            </a:custGeom>
            <a:solidFill>
              <a:srgbClr val="000000"/>
            </a:solidFill>
          </p:spPr>
        </p:sp>
      </p:grpSp>
      <p:grpSp>
        <p:nvGrpSpPr>
          <p:cNvPr id="8" name="Group 8"/>
          <p:cNvGrpSpPr/>
          <p:nvPr/>
        </p:nvGrpSpPr>
        <p:grpSpPr>
          <a:xfrm>
            <a:off x="0" y="-52388"/>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461659" y="2115502"/>
            <a:ext cx="8139541" cy="677494"/>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EXISTING SYSTEM</a:t>
            </a:r>
          </a:p>
        </p:txBody>
      </p:sp>
      <p:grpSp>
        <p:nvGrpSpPr>
          <p:cNvPr id="5" name="Group 5"/>
          <p:cNvGrpSpPr/>
          <p:nvPr/>
        </p:nvGrpSpPr>
        <p:grpSpPr>
          <a:xfrm>
            <a:off x="1461659" y="2816962"/>
            <a:ext cx="14414373" cy="66675"/>
            <a:chOff x="0" y="0"/>
            <a:chExt cx="19219164" cy="88900"/>
          </a:xfrm>
        </p:grpSpPr>
        <p:sp>
          <p:nvSpPr>
            <p:cNvPr id="6" name="Freeform 6"/>
            <p:cNvSpPr/>
            <p:nvPr/>
          </p:nvSpPr>
          <p:spPr>
            <a:xfrm>
              <a:off x="0" y="0"/>
              <a:ext cx="19219163" cy="88900"/>
            </a:xfrm>
            <a:custGeom>
              <a:avLst/>
              <a:gdLst/>
              <a:ahLst/>
              <a:cxnLst/>
              <a:rect l="l" t="t" r="r" b="b"/>
              <a:pathLst>
                <a:path w="19219163" h="88900">
                  <a:moveTo>
                    <a:pt x="19050" y="0"/>
                  </a:moveTo>
                  <a:lnTo>
                    <a:pt x="19200113" y="50800"/>
                  </a:lnTo>
                  <a:cubicBezTo>
                    <a:pt x="19210654" y="50800"/>
                    <a:pt x="19219163" y="59436"/>
                    <a:pt x="19219163" y="69850"/>
                  </a:cubicBezTo>
                  <a:cubicBezTo>
                    <a:pt x="19219163" y="80264"/>
                    <a:pt x="19210527" y="88900"/>
                    <a:pt x="19200113" y="88900"/>
                  </a:cubicBezTo>
                  <a:lnTo>
                    <a:pt x="19050" y="38100"/>
                  </a:lnTo>
                  <a:cubicBezTo>
                    <a:pt x="8509" y="38100"/>
                    <a:pt x="0" y="29464"/>
                    <a:pt x="0" y="19050"/>
                  </a:cubicBezTo>
                  <a:cubicBezTo>
                    <a:pt x="0" y="8636"/>
                    <a:pt x="8636" y="0"/>
                    <a:pt x="19050" y="0"/>
                  </a:cubicBezTo>
                  <a:close/>
                </a:path>
              </a:pathLst>
            </a:custGeom>
            <a:solidFill>
              <a:srgbClr val="000000"/>
            </a:solidFill>
          </p:spPr>
        </p:sp>
      </p:grpSp>
      <p:sp>
        <p:nvSpPr>
          <p:cNvPr id="7" name="TextBox 7"/>
          <p:cNvSpPr txBox="1"/>
          <p:nvPr/>
        </p:nvSpPr>
        <p:spPr>
          <a:xfrm>
            <a:off x="1461659" y="2987250"/>
            <a:ext cx="14385817" cy="5955763"/>
          </a:xfrm>
          <a:prstGeom prst="rect">
            <a:avLst/>
          </a:prstGeom>
        </p:spPr>
        <p:txBody>
          <a:bodyPr lIns="0" tIns="0" rIns="0" bIns="0" rtlCol="0" anchor="t">
            <a:spAutoFit/>
          </a:bodyPr>
          <a:lstStyle/>
          <a:p>
            <a:pPr marL="1064181" lvl="4" indent="-212836" algn="just">
              <a:lnSpc>
                <a:spcPts val="4578"/>
              </a:lnSpc>
              <a:buFont typeface="Arial"/>
              <a:buChar char="•"/>
            </a:pPr>
            <a:r>
              <a:rPr lang="en-US" sz="3270" spc="160">
                <a:solidFill>
                  <a:srgbClr val="343434"/>
                </a:solidFill>
                <a:latin typeface="Times New Roman"/>
                <a:ea typeface="Times New Roman"/>
                <a:cs typeface="Times New Roman"/>
                <a:sym typeface="Times New Roman"/>
              </a:rPr>
              <a:t>Relies mainly on supervised learning models that need large amounts of labeled data.</a:t>
            </a:r>
          </a:p>
          <a:p>
            <a:pPr marL="1064181" lvl="4" indent="-212836" algn="just">
              <a:lnSpc>
                <a:spcPts val="4578"/>
              </a:lnSpc>
              <a:buFont typeface="Arial"/>
              <a:buChar char="•"/>
            </a:pPr>
            <a:r>
              <a:rPr lang="en-US" sz="3270" spc="160">
                <a:solidFill>
                  <a:srgbClr val="343434"/>
                </a:solidFill>
                <a:latin typeface="Times New Roman"/>
                <a:ea typeface="Times New Roman"/>
                <a:cs typeface="Times New Roman"/>
                <a:sym typeface="Times New Roman"/>
              </a:rPr>
              <a:t>Data labeling in real manufacturing environments is costly and time-consuming.</a:t>
            </a:r>
          </a:p>
          <a:p>
            <a:pPr marL="1064181" lvl="4" indent="-212836" algn="just">
              <a:lnSpc>
                <a:spcPts val="4578"/>
              </a:lnSpc>
              <a:buFont typeface="Arial"/>
              <a:buChar char="•"/>
            </a:pPr>
            <a:r>
              <a:rPr lang="en-US" sz="3270" spc="160">
                <a:solidFill>
                  <a:srgbClr val="343434"/>
                </a:solidFill>
                <a:latin typeface="Times New Roman"/>
                <a:ea typeface="Times New Roman"/>
                <a:cs typeface="Times New Roman"/>
                <a:sym typeface="Times New Roman"/>
              </a:rPr>
              <a:t>Existing unsupervised methods are limited to binary classification (e.g., “worn” or “not worn”).</a:t>
            </a:r>
          </a:p>
          <a:p>
            <a:pPr marL="1064181" lvl="4" indent="-212836" algn="just">
              <a:lnSpc>
                <a:spcPts val="4578"/>
              </a:lnSpc>
              <a:buFont typeface="Arial"/>
              <a:buChar char="•"/>
            </a:pPr>
            <a:r>
              <a:rPr lang="en-US" sz="3270" spc="160">
                <a:solidFill>
                  <a:srgbClr val="343434"/>
                </a:solidFill>
                <a:latin typeface="Times New Roman"/>
                <a:ea typeface="Times New Roman"/>
                <a:cs typeface="Times New Roman"/>
                <a:sym typeface="Times New Roman"/>
              </a:rPr>
              <a:t>Fails to capture the progressive stages of tool wear accurately.</a:t>
            </a:r>
          </a:p>
          <a:p>
            <a:pPr marL="1064181" lvl="4" indent="-212836" algn="just">
              <a:lnSpc>
                <a:spcPts val="4578"/>
              </a:lnSpc>
              <a:buFont typeface="Arial"/>
              <a:buChar char="•"/>
            </a:pPr>
            <a:r>
              <a:rPr lang="en-US" sz="3270" spc="160">
                <a:solidFill>
                  <a:srgbClr val="343434"/>
                </a:solidFill>
                <a:latin typeface="Times New Roman"/>
                <a:ea typeface="Times New Roman"/>
                <a:cs typeface="Times New Roman"/>
                <a:sym typeface="Times New Roman"/>
              </a:rPr>
              <a:t>Lacks adaptability to real-world scenarios with scarce labeled data.</a:t>
            </a:r>
          </a:p>
          <a:p>
            <a:pPr marL="1064181" lvl="4" indent="-212836" algn="just">
              <a:lnSpc>
                <a:spcPts val="4578"/>
              </a:lnSpc>
              <a:buFont typeface="Arial"/>
              <a:buChar char="•"/>
            </a:pPr>
            <a:r>
              <a:rPr lang="en-US" sz="3270" spc="163">
                <a:solidFill>
                  <a:srgbClr val="343434"/>
                </a:solidFill>
                <a:latin typeface="Times New Roman"/>
                <a:ea typeface="Times New Roman"/>
                <a:cs typeface="Times New Roman"/>
                <a:sym typeface="Times New Roman"/>
              </a:rPr>
              <a:t>Provides limited predictive capability for proactive maintenance and decision-making.</a:t>
            </a:r>
          </a:p>
        </p:txBody>
      </p:sp>
      <p:grpSp>
        <p:nvGrpSpPr>
          <p:cNvPr id="8" name="Group 8"/>
          <p:cNvGrpSpPr/>
          <p:nvPr/>
        </p:nvGrpSpPr>
        <p:grpSpPr>
          <a:xfrm>
            <a:off x="0" y="-52388"/>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343006" y="2146402"/>
            <a:ext cx="6869611" cy="734787"/>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DISADVANTAGES</a:t>
            </a:r>
          </a:p>
        </p:txBody>
      </p:sp>
      <p:sp>
        <p:nvSpPr>
          <p:cNvPr id="5" name="TextBox 5"/>
          <p:cNvSpPr txBox="1"/>
          <p:nvPr/>
        </p:nvSpPr>
        <p:spPr>
          <a:xfrm>
            <a:off x="1343006" y="3234385"/>
            <a:ext cx="14366691" cy="4793742"/>
          </a:xfrm>
          <a:prstGeom prst="rect">
            <a:avLst/>
          </a:prstGeom>
        </p:spPr>
        <p:txBody>
          <a:bodyPr lIns="0" tIns="0" rIns="0" bIns="0" rtlCol="0" anchor="t">
            <a:spAutoFit/>
          </a:bodyPr>
          <a:lstStyle/>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Requires large labeled datasets, making it unsuitable for real-time industrial environments.</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Manual data labeling is costly, time-consuming, and prone to human error.</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Existing models are limited to binary classification, ignoring intermediate tool wear stages.</a:t>
            </a:r>
          </a:p>
          <a:p>
            <a:pPr marL="1064181" lvl="4" indent="-212836" algn="l">
              <a:lnSpc>
                <a:spcPts val="4578"/>
              </a:lnSpc>
              <a:buFont typeface="Arial"/>
              <a:buChar char="•"/>
            </a:pPr>
            <a:r>
              <a:rPr lang="en-US" sz="3270" spc="163">
                <a:solidFill>
                  <a:srgbClr val="343434"/>
                </a:solidFill>
                <a:latin typeface="Times New Roman"/>
                <a:ea typeface="Times New Roman"/>
                <a:cs typeface="Times New Roman"/>
                <a:sym typeface="Times New Roman"/>
              </a:rPr>
              <a:t>Poor scalability when dealing with diverse machines and sensor conditions.</a:t>
            </a:r>
          </a:p>
        </p:txBody>
      </p:sp>
      <p:grpSp>
        <p:nvGrpSpPr>
          <p:cNvPr id="6" name="Group 6"/>
          <p:cNvGrpSpPr/>
          <p:nvPr/>
        </p:nvGrpSpPr>
        <p:grpSpPr>
          <a:xfrm>
            <a:off x="1343006" y="2895600"/>
            <a:ext cx="14414373" cy="66675"/>
            <a:chOff x="0" y="0"/>
            <a:chExt cx="19219164" cy="88900"/>
          </a:xfrm>
        </p:grpSpPr>
        <p:sp>
          <p:nvSpPr>
            <p:cNvPr id="7" name="Freeform 7"/>
            <p:cNvSpPr/>
            <p:nvPr/>
          </p:nvSpPr>
          <p:spPr>
            <a:xfrm>
              <a:off x="0" y="0"/>
              <a:ext cx="19219163" cy="88900"/>
            </a:xfrm>
            <a:custGeom>
              <a:avLst/>
              <a:gdLst/>
              <a:ahLst/>
              <a:cxnLst/>
              <a:rect l="l" t="t" r="r" b="b"/>
              <a:pathLst>
                <a:path w="19219163" h="88900">
                  <a:moveTo>
                    <a:pt x="19050" y="0"/>
                  </a:moveTo>
                  <a:lnTo>
                    <a:pt x="19200113" y="50800"/>
                  </a:lnTo>
                  <a:cubicBezTo>
                    <a:pt x="19210654" y="50800"/>
                    <a:pt x="19219163" y="59436"/>
                    <a:pt x="19219163" y="69850"/>
                  </a:cubicBezTo>
                  <a:cubicBezTo>
                    <a:pt x="19219163" y="80264"/>
                    <a:pt x="19210527" y="88900"/>
                    <a:pt x="19200113" y="88900"/>
                  </a:cubicBezTo>
                  <a:lnTo>
                    <a:pt x="19050" y="38100"/>
                  </a:lnTo>
                  <a:cubicBezTo>
                    <a:pt x="8509" y="38100"/>
                    <a:pt x="0" y="29464"/>
                    <a:pt x="0" y="19050"/>
                  </a:cubicBezTo>
                  <a:cubicBezTo>
                    <a:pt x="0" y="8636"/>
                    <a:pt x="8636" y="0"/>
                    <a:pt x="19050" y="0"/>
                  </a:cubicBezTo>
                  <a:close/>
                </a:path>
              </a:pathLst>
            </a:custGeom>
            <a:solidFill>
              <a:srgbClr val="000000"/>
            </a:solidFill>
          </p:spPr>
        </p:sp>
      </p:grpSp>
      <p:grpSp>
        <p:nvGrpSpPr>
          <p:cNvPr id="8" name="Group 8"/>
          <p:cNvGrpSpPr/>
          <p:nvPr/>
        </p:nvGrpSpPr>
        <p:grpSpPr>
          <a:xfrm>
            <a:off x="0" y="-52388"/>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585912" y="2146687"/>
            <a:ext cx="9234488" cy="677494"/>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PROPOSED SYSTEM</a:t>
            </a:r>
          </a:p>
        </p:txBody>
      </p:sp>
      <p:sp>
        <p:nvSpPr>
          <p:cNvPr id="5" name="TextBox 5"/>
          <p:cNvSpPr txBox="1"/>
          <p:nvPr/>
        </p:nvSpPr>
        <p:spPr>
          <a:xfrm>
            <a:off x="1603419" y="3230261"/>
            <a:ext cx="14690579" cy="4793742"/>
          </a:xfrm>
          <a:prstGeom prst="rect">
            <a:avLst/>
          </a:prstGeom>
        </p:spPr>
        <p:txBody>
          <a:bodyPr lIns="0" tIns="0" rIns="0" bIns="0" rtlCol="0" anchor="t">
            <a:spAutoFit/>
          </a:bodyPr>
          <a:lstStyle/>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Introduces unsupervised and semi-supervised learning frameworks for tool wear recognition.</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Utilizes advanced models like SAE, SSAE, Laplacian Score, SOM, SVM, and Random Forest for accurate classification.</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Enables multiclass tool wear recognition instead of simple binary classification.</a:t>
            </a:r>
          </a:p>
          <a:p>
            <a:pPr marL="1064181" lvl="4" indent="-212836" algn="l">
              <a:lnSpc>
                <a:spcPts val="4578"/>
              </a:lnSpc>
              <a:buFont typeface="Arial"/>
              <a:buChar char="•"/>
            </a:pPr>
            <a:r>
              <a:rPr lang="en-US" sz="3270" spc="163">
                <a:solidFill>
                  <a:srgbClr val="343434"/>
                </a:solidFill>
                <a:latin typeface="Times New Roman"/>
                <a:ea typeface="Times New Roman"/>
                <a:cs typeface="Times New Roman"/>
                <a:sym typeface="Times New Roman"/>
              </a:rPr>
              <a:t>Integrates data from multiple sensors (microphone and accelerometer) for better accuracy.</a:t>
            </a:r>
          </a:p>
        </p:txBody>
      </p:sp>
      <p:grpSp>
        <p:nvGrpSpPr>
          <p:cNvPr id="6" name="Group 6"/>
          <p:cNvGrpSpPr/>
          <p:nvPr/>
        </p:nvGrpSpPr>
        <p:grpSpPr>
          <a:xfrm>
            <a:off x="1585912" y="2881484"/>
            <a:ext cx="14708124" cy="66675"/>
            <a:chOff x="0" y="0"/>
            <a:chExt cx="19610832" cy="88900"/>
          </a:xfrm>
        </p:grpSpPr>
        <p:sp>
          <p:nvSpPr>
            <p:cNvPr id="7" name="Freeform 7"/>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grpSp>
        <p:nvGrpSpPr>
          <p:cNvPr id="8" name="Group 8"/>
          <p:cNvGrpSpPr/>
          <p:nvPr/>
        </p:nvGrpSpPr>
        <p:grpSpPr>
          <a:xfrm>
            <a:off x="0" y="-52388"/>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330462" y="2088309"/>
            <a:ext cx="5548217" cy="734787"/>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ADVANTAGES</a:t>
            </a:r>
          </a:p>
        </p:txBody>
      </p:sp>
      <p:grpSp>
        <p:nvGrpSpPr>
          <p:cNvPr id="5" name="Group 5"/>
          <p:cNvGrpSpPr/>
          <p:nvPr/>
        </p:nvGrpSpPr>
        <p:grpSpPr>
          <a:xfrm>
            <a:off x="1330462" y="2823105"/>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sp>
        <p:nvSpPr>
          <p:cNvPr id="7" name="TextBox 7"/>
          <p:cNvSpPr txBox="1"/>
          <p:nvPr/>
        </p:nvSpPr>
        <p:spPr>
          <a:xfrm>
            <a:off x="1330462" y="2984516"/>
            <a:ext cx="14900110" cy="6641354"/>
          </a:xfrm>
          <a:prstGeom prst="rect">
            <a:avLst/>
          </a:prstGeom>
        </p:spPr>
        <p:txBody>
          <a:bodyPr lIns="0" tIns="0" rIns="0" bIns="0" rtlCol="0" anchor="t">
            <a:spAutoFit/>
          </a:bodyPr>
          <a:lstStyle/>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Reduces labeling cost by efficiently using unlabeled or partially labeled data.</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Recognizes multiple stages of tool wear for detailed and accurate monitoring.</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Improves predictive maintenance, preventing unexpected machine failures.</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Enhances accuracy and robustness through sensor fusion and feature learning.</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Adapts well to real-world environments with limited labeled data.</a:t>
            </a:r>
          </a:p>
          <a:p>
            <a:pPr marL="1064181" lvl="4" indent="-212836" algn="l">
              <a:lnSpc>
                <a:spcPts val="4578"/>
              </a:lnSpc>
              <a:buFont typeface="Arial"/>
              <a:buChar char="•"/>
            </a:pPr>
            <a:r>
              <a:rPr lang="en-US" sz="3270" spc="160">
                <a:solidFill>
                  <a:srgbClr val="343434"/>
                </a:solidFill>
                <a:latin typeface="Times New Roman"/>
                <a:ea typeface="Times New Roman"/>
                <a:cs typeface="Times New Roman"/>
                <a:sym typeface="Times New Roman"/>
              </a:rPr>
              <a:t>Scalable and cost-effective, suitable for modern smart manufacturing systems.</a:t>
            </a:r>
          </a:p>
          <a:p>
            <a:pPr marL="1064181" lvl="4" indent="-212836" algn="l">
              <a:lnSpc>
                <a:spcPts val="4578"/>
              </a:lnSpc>
            </a:pPr>
            <a:endParaRPr lang="en-US" sz="3270" spc="160">
              <a:solidFill>
                <a:srgbClr val="343434"/>
              </a:solidFill>
              <a:latin typeface="Times New Roman"/>
              <a:ea typeface="Times New Roman"/>
              <a:cs typeface="Times New Roman"/>
              <a:sym typeface="Times New Roman"/>
            </a:endParaRPr>
          </a:p>
        </p:txBody>
      </p:sp>
      <p:grpSp>
        <p:nvGrpSpPr>
          <p:cNvPr id="8" name="Group 8"/>
          <p:cNvGrpSpPr/>
          <p:nvPr/>
        </p:nvGrpSpPr>
        <p:grpSpPr>
          <a:xfrm>
            <a:off x="0" y="0"/>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312755" y="2146687"/>
            <a:ext cx="11946045" cy="677494"/>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SYSTEM REQUIREMENTS</a:t>
            </a:r>
          </a:p>
        </p:txBody>
      </p:sp>
      <p:grpSp>
        <p:nvGrpSpPr>
          <p:cNvPr id="5" name="Group 5"/>
          <p:cNvGrpSpPr/>
          <p:nvPr/>
        </p:nvGrpSpPr>
        <p:grpSpPr>
          <a:xfrm>
            <a:off x="1312755" y="2881484"/>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sp>
        <p:nvSpPr>
          <p:cNvPr id="7" name="TextBox 7"/>
          <p:cNvSpPr txBox="1"/>
          <p:nvPr/>
        </p:nvSpPr>
        <p:spPr>
          <a:xfrm>
            <a:off x="1312755" y="3143764"/>
            <a:ext cx="7227170" cy="6460617"/>
          </a:xfrm>
          <a:prstGeom prst="rect">
            <a:avLst/>
          </a:prstGeom>
        </p:spPr>
        <p:txBody>
          <a:bodyPr lIns="0" tIns="0" rIns="0" bIns="0" rtlCol="0" anchor="t">
            <a:spAutoFit/>
          </a:bodyPr>
          <a:lstStyle/>
          <a:p>
            <a:pPr algn="l">
              <a:lnSpc>
                <a:spcPts val="4578"/>
              </a:lnSpc>
            </a:pPr>
            <a:r>
              <a:rPr lang="en-US" sz="3270" b="1" spc="163">
                <a:solidFill>
                  <a:srgbClr val="343434"/>
                </a:solidFill>
                <a:latin typeface="Times New Roman Bold"/>
                <a:ea typeface="Times New Roman Bold"/>
                <a:cs typeface="Times New Roman Bold"/>
                <a:sym typeface="Times New Roman Bold"/>
              </a:rPr>
              <a:t>Hardware Requirements:</a:t>
            </a:r>
          </a:p>
          <a:p>
            <a:pPr marL="1064202" lvl="4" indent="-212840" algn="l">
              <a:lnSpc>
                <a:spcPts val="4578"/>
              </a:lnSpc>
              <a:buFont typeface="Arial"/>
              <a:buChar char="•"/>
            </a:pPr>
            <a:r>
              <a:rPr lang="en-US" sz="3270" b="1" spc="163">
                <a:solidFill>
                  <a:srgbClr val="343434"/>
                </a:solidFill>
                <a:latin typeface="Times New Roman Bold"/>
                <a:ea typeface="Times New Roman Bold"/>
                <a:cs typeface="Times New Roman Bold"/>
                <a:sym typeface="Times New Roman Bold"/>
              </a:rPr>
              <a:t>Sensors: </a:t>
            </a:r>
            <a:r>
              <a:rPr lang="en-US" sz="3270" spc="163">
                <a:solidFill>
                  <a:srgbClr val="343434"/>
                </a:solidFill>
                <a:latin typeface="Times New Roman"/>
                <a:ea typeface="Times New Roman"/>
                <a:cs typeface="Times New Roman"/>
                <a:sym typeface="Times New Roman"/>
              </a:rPr>
              <a:t>Accelerometers, force sensors, or acoustic emission sensors.</a:t>
            </a:r>
          </a:p>
          <a:p>
            <a:pPr marL="1064181" lvl="4" indent="-212836" algn="l">
              <a:lnSpc>
                <a:spcPts val="4578"/>
              </a:lnSpc>
              <a:buFont typeface="Arial"/>
              <a:buChar char="•"/>
            </a:pPr>
            <a:r>
              <a:rPr lang="en-US" sz="3270" b="1" spc="160">
                <a:solidFill>
                  <a:srgbClr val="343434"/>
                </a:solidFill>
                <a:latin typeface="Times New Roman Bold"/>
                <a:ea typeface="Times New Roman Bold"/>
                <a:cs typeface="Times New Roman Bold"/>
                <a:sym typeface="Times New Roman Bold"/>
              </a:rPr>
              <a:t>Data Acquisition System:</a:t>
            </a:r>
            <a:r>
              <a:rPr lang="en-US" sz="3270" spc="160">
                <a:solidFill>
                  <a:srgbClr val="343434"/>
                </a:solidFill>
                <a:latin typeface="Times New Roman"/>
                <a:ea typeface="Times New Roman"/>
                <a:cs typeface="Times New Roman"/>
                <a:sym typeface="Times New Roman"/>
              </a:rPr>
              <a:t> Hardware to read and digitize sensor data. </a:t>
            </a:r>
          </a:p>
          <a:p>
            <a:pPr marL="1064202" lvl="4" indent="-212840" algn="l">
              <a:lnSpc>
                <a:spcPts val="4578"/>
              </a:lnSpc>
              <a:buFont typeface="Arial"/>
              <a:buChar char="•"/>
            </a:pPr>
            <a:r>
              <a:rPr lang="en-US" sz="3270" b="1" spc="163">
                <a:solidFill>
                  <a:srgbClr val="343434"/>
                </a:solidFill>
                <a:latin typeface="Times New Roman Bold"/>
                <a:ea typeface="Times New Roman Bold"/>
                <a:cs typeface="Times New Roman Bold"/>
                <a:sym typeface="Times New Roman Bold"/>
              </a:rPr>
              <a:t>Server:</a:t>
            </a:r>
            <a:r>
              <a:rPr lang="en-US" sz="3270" spc="163">
                <a:solidFill>
                  <a:srgbClr val="343434"/>
                </a:solidFill>
                <a:latin typeface="Times New Roman"/>
                <a:ea typeface="Times New Roman"/>
                <a:cs typeface="Times New Roman"/>
                <a:sym typeface="Times New Roman"/>
              </a:rPr>
              <a:t> A computer to run the analysis, with a powerful CPU and sufficient RAM.</a:t>
            </a:r>
          </a:p>
          <a:p>
            <a:pPr marL="1064202" lvl="4" indent="-212840" algn="l">
              <a:lnSpc>
                <a:spcPts val="4578"/>
              </a:lnSpc>
            </a:pPr>
            <a:endParaRPr lang="en-US" sz="3270" spc="163">
              <a:solidFill>
                <a:srgbClr val="343434"/>
              </a:solidFill>
              <a:latin typeface="Times New Roman"/>
              <a:ea typeface="Times New Roman"/>
              <a:cs typeface="Times New Roman"/>
              <a:sym typeface="Times New Roman"/>
            </a:endParaRPr>
          </a:p>
        </p:txBody>
      </p:sp>
      <p:sp>
        <p:nvSpPr>
          <p:cNvPr id="8" name="TextBox 8"/>
          <p:cNvSpPr txBox="1"/>
          <p:nvPr/>
        </p:nvSpPr>
        <p:spPr>
          <a:xfrm>
            <a:off x="9044569" y="3143764"/>
            <a:ext cx="6976272" cy="4793847"/>
          </a:xfrm>
          <a:prstGeom prst="rect">
            <a:avLst/>
          </a:prstGeom>
        </p:spPr>
        <p:txBody>
          <a:bodyPr lIns="0" tIns="0" rIns="0" bIns="0" rtlCol="0" anchor="t">
            <a:spAutoFit/>
          </a:bodyPr>
          <a:lstStyle/>
          <a:p>
            <a:pPr algn="l">
              <a:lnSpc>
                <a:spcPts val="4577"/>
              </a:lnSpc>
            </a:pPr>
            <a:r>
              <a:rPr lang="en-US" sz="3270" b="1" spc="163">
                <a:solidFill>
                  <a:srgbClr val="343434"/>
                </a:solidFill>
                <a:latin typeface="Times New Roman Bold"/>
                <a:ea typeface="Times New Roman Bold"/>
                <a:cs typeface="Times New Roman Bold"/>
                <a:sym typeface="Times New Roman Bold"/>
              </a:rPr>
              <a:t>Software Requirements:</a:t>
            </a:r>
          </a:p>
          <a:p>
            <a:pPr marL="1064183" lvl="4" indent="-212837" algn="l">
              <a:lnSpc>
                <a:spcPts val="4577"/>
              </a:lnSpc>
              <a:buFont typeface="Arial"/>
              <a:buChar char="•"/>
            </a:pPr>
            <a:r>
              <a:rPr lang="en-US" sz="3270" b="1" spc="163">
                <a:solidFill>
                  <a:srgbClr val="343434"/>
                </a:solidFill>
                <a:latin typeface="Times New Roman Bold"/>
                <a:ea typeface="Times New Roman Bold"/>
                <a:cs typeface="Times New Roman Bold"/>
                <a:sym typeface="Times New Roman Bold"/>
              </a:rPr>
              <a:t>Operating System: </a:t>
            </a:r>
            <a:r>
              <a:rPr lang="en-US" sz="3270" spc="163">
                <a:solidFill>
                  <a:srgbClr val="343434"/>
                </a:solidFill>
                <a:latin typeface="Times New Roman"/>
                <a:ea typeface="Times New Roman"/>
                <a:cs typeface="Times New Roman"/>
                <a:sym typeface="Times New Roman"/>
              </a:rPr>
              <a:t>Linux</a:t>
            </a:r>
          </a:p>
          <a:p>
            <a:pPr marL="1064183" lvl="4" indent="-212837" algn="l">
              <a:lnSpc>
                <a:spcPts val="4577"/>
              </a:lnSpc>
              <a:buFont typeface="Arial"/>
              <a:buChar char="•"/>
            </a:pPr>
            <a:r>
              <a:rPr lang="en-US" sz="3270" b="1" spc="163">
                <a:solidFill>
                  <a:srgbClr val="343434"/>
                </a:solidFill>
                <a:latin typeface="Times New Roman Bold"/>
                <a:ea typeface="Times New Roman Bold"/>
                <a:cs typeface="Times New Roman Bold"/>
                <a:sym typeface="Times New Roman Bold"/>
              </a:rPr>
              <a:t>Programming Language:</a:t>
            </a:r>
            <a:r>
              <a:rPr lang="en-US" sz="3270" spc="163">
                <a:solidFill>
                  <a:srgbClr val="343434"/>
                </a:solidFill>
                <a:latin typeface="Times New Roman"/>
                <a:ea typeface="Times New Roman"/>
                <a:cs typeface="Times New Roman"/>
                <a:sym typeface="Times New Roman"/>
              </a:rPr>
              <a:t>Python</a:t>
            </a:r>
          </a:p>
          <a:p>
            <a:pPr marL="1064183" lvl="4" indent="-212837" algn="l">
              <a:lnSpc>
                <a:spcPts val="4577"/>
              </a:lnSpc>
              <a:buFont typeface="Arial"/>
              <a:buChar char="•"/>
            </a:pPr>
            <a:r>
              <a:rPr lang="en-US" sz="3270" b="1" spc="163">
                <a:solidFill>
                  <a:srgbClr val="343434"/>
                </a:solidFill>
                <a:latin typeface="Times New Roman Bold"/>
                <a:ea typeface="Times New Roman Bold"/>
                <a:cs typeface="Times New Roman Bold"/>
                <a:sym typeface="Times New Roman Bold"/>
              </a:rPr>
              <a:t>Libraries and Frameworks:</a:t>
            </a:r>
            <a:r>
              <a:rPr lang="en-US" sz="3270" spc="163">
                <a:solidFill>
                  <a:srgbClr val="343434"/>
                </a:solidFill>
                <a:latin typeface="Times New Roman"/>
                <a:ea typeface="Times New Roman"/>
                <a:cs typeface="Times New Roman"/>
                <a:sym typeface="Times New Roman"/>
              </a:rPr>
              <a:t> Pandas and NumPy, SciPy, Scikit-learn, TensorFlow, or PyTorch.</a:t>
            </a:r>
          </a:p>
          <a:p>
            <a:pPr marL="1064183" lvl="4" indent="-212837" algn="l">
              <a:lnSpc>
                <a:spcPts val="4577"/>
              </a:lnSpc>
            </a:pPr>
            <a:endParaRPr lang="en-US" sz="3270" spc="163">
              <a:solidFill>
                <a:srgbClr val="343434"/>
              </a:solidFill>
              <a:latin typeface="Times New Roman"/>
              <a:ea typeface="Times New Roman"/>
              <a:cs typeface="Times New Roman"/>
              <a:sym typeface="Times New Roman"/>
            </a:endParaRPr>
          </a:p>
        </p:txBody>
      </p:sp>
      <p:grpSp>
        <p:nvGrpSpPr>
          <p:cNvPr id="9" name="Group 9"/>
          <p:cNvGrpSpPr/>
          <p:nvPr/>
        </p:nvGrpSpPr>
        <p:grpSpPr>
          <a:xfrm>
            <a:off x="0" y="-52388"/>
            <a:ext cx="18288000" cy="2162175"/>
            <a:chOff x="0" y="0"/>
            <a:chExt cx="24384000" cy="2882900"/>
          </a:xfrm>
        </p:grpSpPr>
        <p:sp>
          <p:nvSpPr>
            <p:cNvPr id="10" name="Freeform 10"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316203" y="2217906"/>
            <a:ext cx="4006358"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MODULES</a:t>
            </a:r>
          </a:p>
        </p:txBody>
      </p:sp>
      <p:grpSp>
        <p:nvGrpSpPr>
          <p:cNvPr id="5" name="Group 5"/>
          <p:cNvGrpSpPr/>
          <p:nvPr/>
        </p:nvGrpSpPr>
        <p:grpSpPr>
          <a:xfrm>
            <a:off x="1301925" y="2919346"/>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sp>
        <p:nvSpPr>
          <p:cNvPr id="7" name="TextBox 7"/>
          <p:cNvSpPr txBox="1"/>
          <p:nvPr/>
        </p:nvSpPr>
        <p:spPr>
          <a:xfrm>
            <a:off x="1301925" y="3008415"/>
            <a:ext cx="14679549" cy="7041642"/>
          </a:xfrm>
          <a:prstGeom prst="rect">
            <a:avLst/>
          </a:prstGeom>
        </p:spPr>
        <p:txBody>
          <a:bodyPr lIns="0" tIns="0" rIns="0" bIns="0" rtlCol="0" anchor="t">
            <a:spAutoFit/>
          </a:bodyPr>
          <a:lstStyle/>
          <a:p>
            <a:pPr marL="1064181" lvl="4" indent="-212836" algn="l">
              <a:lnSpc>
                <a:spcPts val="4578"/>
              </a:lnSpc>
              <a:buFont typeface="Arial"/>
              <a:buChar char="•"/>
            </a:pPr>
            <a:r>
              <a:rPr lang="en-US" sz="3270" b="1" spc="160" dirty="0">
                <a:solidFill>
                  <a:srgbClr val="343434"/>
                </a:solidFill>
                <a:latin typeface="Times New Roman Bold"/>
                <a:ea typeface="Times New Roman Bold"/>
                <a:cs typeface="Times New Roman Bold"/>
                <a:sym typeface="Times New Roman Bold"/>
              </a:rPr>
              <a:t>Data Logger Module: </a:t>
            </a:r>
            <a:r>
              <a:rPr lang="en-US" sz="3270" spc="160" dirty="0">
                <a:solidFill>
                  <a:srgbClr val="343434"/>
                </a:solidFill>
                <a:latin typeface="Times New Roman"/>
                <a:ea typeface="Times New Roman"/>
                <a:cs typeface="Times New Roman"/>
                <a:sym typeface="Times New Roman"/>
              </a:rPr>
              <a:t>Collects and stores real-time sensor data from different machines.</a:t>
            </a:r>
          </a:p>
          <a:p>
            <a:pPr marL="1064181" lvl="4" indent="-212836" algn="l">
              <a:lnSpc>
                <a:spcPts val="4578"/>
              </a:lnSpc>
              <a:buFont typeface="Arial"/>
              <a:buChar char="•"/>
            </a:pPr>
            <a:r>
              <a:rPr lang="en-US" sz="3270" b="1" spc="160" dirty="0">
                <a:solidFill>
                  <a:srgbClr val="343434"/>
                </a:solidFill>
                <a:latin typeface="Times New Roman Bold"/>
                <a:ea typeface="Times New Roman Bold"/>
                <a:cs typeface="Times New Roman Bold"/>
                <a:sym typeface="Times New Roman Bold"/>
              </a:rPr>
              <a:t>Signal Processing Module:</a:t>
            </a:r>
            <a:r>
              <a:rPr lang="en-US" sz="3270" spc="160" dirty="0">
                <a:solidFill>
                  <a:srgbClr val="343434"/>
                </a:solidFill>
                <a:latin typeface="Times New Roman"/>
                <a:ea typeface="Times New Roman"/>
                <a:cs typeface="Times New Roman"/>
                <a:sym typeface="Times New Roman"/>
              </a:rPr>
              <a:t> Extracts important features from raw sensor signals such as vibration and acoustic data.</a:t>
            </a:r>
          </a:p>
          <a:p>
            <a:pPr marL="1064181" lvl="4" indent="-212836" algn="l">
              <a:lnSpc>
                <a:spcPts val="4578"/>
              </a:lnSpc>
              <a:buFont typeface="Arial"/>
              <a:buChar char="•"/>
            </a:pPr>
            <a:r>
              <a:rPr lang="en-US" sz="3270" b="1" spc="160" dirty="0">
                <a:solidFill>
                  <a:srgbClr val="343434"/>
                </a:solidFill>
                <a:latin typeface="Times New Roman Bold"/>
                <a:ea typeface="Times New Roman Bold"/>
                <a:cs typeface="Times New Roman Bold"/>
                <a:sym typeface="Times New Roman Bold"/>
              </a:rPr>
              <a:t>ML Framework Module: </a:t>
            </a:r>
            <a:r>
              <a:rPr lang="en-US" sz="3270" spc="160" dirty="0">
                <a:solidFill>
                  <a:srgbClr val="343434"/>
                </a:solidFill>
                <a:latin typeface="Times New Roman"/>
                <a:ea typeface="Times New Roman"/>
                <a:cs typeface="Times New Roman"/>
                <a:sym typeface="Times New Roman"/>
              </a:rPr>
              <a:t>Implements unsupervised (e.g., K-Means, DBSCAN) and semi-supervised (e.g., label propagation) algorithms for tool wear classification.</a:t>
            </a:r>
          </a:p>
          <a:p>
            <a:pPr marL="1064181" lvl="4" indent="-212836" algn="l">
              <a:lnSpc>
                <a:spcPts val="4578"/>
              </a:lnSpc>
              <a:buFont typeface="Arial"/>
              <a:buChar char="•"/>
            </a:pPr>
            <a:r>
              <a:rPr lang="en-US" sz="3270" b="1" spc="160" dirty="0">
                <a:solidFill>
                  <a:srgbClr val="343434"/>
                </a:solidFill>
                <a:latin typeface="Times New Roman Bold"/>
                <a:ea typeface="Times New Roman Bold"/>
                <a:cs typeface="Times New Roman Bold"/>
                <a:sym typeface="Times New Roman Bold"/>
              </a:rPr>
              <a:t>Predictive Maintenance Module: </a:t>
            </a:r>
            <a:r>
              <a:rPr lang="en-US" sz="3270" spc="160" dirty="0">
                <a:solidFill>
                  <a:srgbClr val="343434"/>
                </a:solidFill>
                <a:latin typeface="Times New Roman"/>
                <a:ea typeface="Times New Roman"/>
                <a:cs typeface="Times New Roman"/>
                <a:sym typeface="Times New Roman"/>
              </a:rPr>
              <a:t>Generates tool wear status and sends alerts for timely maintenance actions.</a:t>
            </a:r>
          </a:p>
          <a:p>
            <a:pPr marL="1064226" lvl="4" indent="-212845" algn="l">
              <a:lnSpc>
                <a:spcPts val="4578"/>
              </a:lnSpc>
              <a:buFont typeface="Arial"/>
              <a:buChar char="•"/>
            </a:pPr>
            <a:r>
              <a:rPr lang="en-US" sz="3270" b="1" spc="162" dirty="0">
                <a:solidFill>
                  <a:srgbClr val="343434"/>
                </a:solidFill>
                <a:latin typeface="Times New Roman Bold"/>
                <a:ea typeface="Times New Roman Bold"/>
                <a:cs typeface="Times New Roman Bold"/>
                <a:sym typeface="Times New Roman Bold"/>
              </a:rPr>
              <a:t>Visualization Module: </a:t>
            </a:r>
            <a:r>
              <a:rPr lang="en-US" sz="3270" spc="162" dirty="0">
                <a:solidFill>
                  <a:srgbClr val="343434"/>
                </a:solidFill>
                <a:latin typeface="Times New Roman"/>
                <a:ea typeface="Times New Roman"/>
                <a:cs typeface="Times New Roman"/>
                <a:sym typeface="Times New Roman"/>
              </a:rPr>
              <a:t>Displays tool wear progression, accuracy metrics, and maintenance insights through graphical dashboards</a:t>
            </a:r>
            <a:r>
              <a:rPr lang="en-US" sz="3270" b="1" spc="162" dirty="0">
                <a:solidFill>
                  <a:srgbClr val="343434"/>
                </a:solidFill>
                <a:latin typeface="Times New Roman Bold"/>
                <a:ea typeface="Times New Roman Bold"/>
                <a:cs typeface="Times New Roman Bold"/>
                <a:sym typeface="Times New Roman Bold"/>
              </a:rPr>
              <a:t>.</a:t>
            </a:r>
          </a:p>
          <a:p>
            <a:pPr marL="1064226" lvl="4" indent="-212845" algn="l">
              <a:lnSpc>
                <a:spcPts val="4578"/>
              </a:lnSpc>
            </a:pPr>
            <a:endParaRPr lang="en-US" sz="3270" b="1" spc="162" dirty="0">
              <a:solidFill>
                <a:srgbClr val="343434"/>
              </a:solidFill>
              <a:latin typeface="Times New Roman Bold"/>
              <a:ea typeface="Times New Roman Bold"/>
              <a:cs typeface="Times New Roman Bold"/>
              <a:sym typeface="Times New Roman Bold"/>
            </a:endParaRPr>
          </a:p>
        </p:txBody>
      </p:sp>
      <p:grpSp>
        <p:nvGrpSpPr>
          <p:cNvPr id="8" name="Group 8"/>
          <p:cNvGrpSpPr/>
          <p:nvPr/>
        </p:nvGrpSpPr>
        <p:grpSpPr>
          <a:xfrm>
            <a:off x="0" y="-52388"/>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285465" y="2088613"/>
            <a:ext cx="9928422"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SYSTEM ARCHITECTURE</a:t>
            </a:r>
          </a:p>
        </p:txBody>
      </p:sp>
      <p:grpSp>
        <p:nvGrpSpPr>
          <p:cNvPr id="5" name="Group 5"/>
          <p:cNvGrpSpPr/>
          <p:nvPr/>
        </p:nvGrpSpPr>
        <p:grpSpPr>
          <a:xfrm>
            <a:off x="1285465" y="2823391"/>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grpSp>
        <p:nvGrpSpPr>
          <p:cNvPr id="7" name="Group 7"/>
          <p:cNvGrpSpPr/>
          <p:nvPr/>
        </p:nvGrpSpPr>
        <p:grpSpPr>
          <a:xfrm>
            <a:off x="3195361" y="3079918"/>
            <a:ext cx="10888313" cy="6396038"/>
            <a:chOff x="0" y="0"/>
            <a:chExt cx="14517751" cy="8528050"/>
          </a:xfrm>
        </p:grpSpPr>
        <p:sp>
          <p:nvSpPr>
            <p:cNvPr id="8" name="Freeform 8"/>
            <p:cNvSpPr/>
            <p:nvPr/>
          </p:nvSpPr>
          <p:spPr>
            <a:xfrm>
              <a:off x="0" y="0"/>
              <a:ext cx="14517751" cy="8528050"/>
            </a:xfrm>
            <a:custGeom>
              <a:avLst/>
              <a:gdLst/>
              <a:ahLst/>
              <a:cxnLst/>
              <a:rect l="l" t="t" r="r" b="b"/>
              <a:pathLst>
                <a:path w="14517751" h="8528050">
                  <a:moveTo>
                    <a:pt x="0" y="0"/>
                  </a:moveTo>
                  <a:lnTo>
                    <a:pt x="14517751" y="0"/>
                  </a:lnTo>
                  <a:lnTo>
                    <a:pt x="14517751" y="8528050"/>
                  </a:lnTo>
                  <a:lnTo>
                    <a:pt x="0" y="8528050"/>
                  </a:lnTo>
                  <a:lnTo>
                    <a:pt x="0" y="0"/>
                  </a:lnTo>
                  <a:close/>
                </a:path>
              </a:pathLst>
            </a:custGeom>
            <a:blipFill>
              <a:blip r:embed="rId3"/>
              <a:stretch>
                <a:fillRect/>
              </a:stretch>
            </a:blipFill>
          </p:spPr>
        </p:sp>
      </p:grpSp>
      <p:grpSp>
        <p:nvGrpSpPr>
          <p:cNvPr id="9" name="Group 9"/>
          <p:cNvGrpSpPr/>
          <p:nvPr/>
        </p:nvGrpSpPr>
        <p:grpSpPr>
          <a:xfrm>
            <a:off x="0" y="0"/>
            <a:ext cx="18288000" cy="2162175"/>
            <a:chOff x="0" y="0"/>
            <a:chExt cx="24384000" cy="2882900"/>
          </a:xfrm>
        </p:grpSpPr>
        <p:sp>
          <p:nvSpPr>
            <p:cNvPr id="10" name="Freeform 10"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4"/>
              <a:stretch>
                <a:fillRect/>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281311"/>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285465" y="1985639"/>
            <a:ext cx="6448720"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UML DIAGRAMS</a:t>
            </a:r>
          </a:p>
        </p:txBody>
      </p:sp>
      <p:grpSp>
        <p:nvGrpSpPr>
          <p:cNvPr id="5" name="Group 5"/>
          <p:cNvGrpSpPr/>
          <p:nvPr/>
        </p:nvGrpSpPr>
        <p:grpSpPr>
          <a:xfrm>
            <a:off x="1299753" y="2805836"/>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grpSp>
        <p:nvGrpSpPr>
          <p:cNvPr id="7" name="Group 7"/>
          <p:cNvGrpSpPr/>
          <p:nvPr/>
        </p:nvGrpSpPr>
        <p:grpSpPr>
          <a:xfrm>
            <a:off x="6784976" y="3703887"/>
            <a:ext cx="9006658" cy="5011081"/>
            <a:chOff x="0" y="0"/>
            <a:chExt cx="13164170" cy="7324217"/>
          </a:xfrm>
        </p:grpSpPr>
        <p:sp>
          <p:nvSpPr>
            <p:cNvPr id="8" name="Freeform 8"/>
            <p:cNvSpPr/>
            <p:nvPr/>
          </p:nvSpPr>
          <p:spPr>
            <a:xfrm>
              <a:off x="0" y="0"/>
              <a:ext cx="13164159" cy="7324217"/>
            </a:xfrm>
            <a:custGeom>
              <a:avLst/>
              <a:gdLst/>
              <a:ahLst/>
              <a:cxnLst/>
              <a:rect l="l" t="t" r="r" b="b"/>
              <a:pathLst>
                <a:path w="13164159" h="7324217">
                  <a:moveTo>
                    <a:pt x="0" y="0"/>
                  </a:moveTo>
                  <a:lnTo>
                    <a:pt x="13164159" y="0"/>
                  </a:lnTo>
                  <a:lnTo>
                    <a:pt x="13164159" y="7324217"/>
                  </a:lnTo>
                  <a:lnTo>
                    <a:pt x="0" y="7324217"/>
                  </a:lnTo>
                  <a:lnTo>
                    <a:pt x="0" y="0"/>
                  </a:lnTo>
                  <a:close/>
                </a:path>
              </a:pathLst>
            </a:custGeom>
            <a:blipFill>
              <a:blip r:embed="rId3"/>
              <a:stretch>
                <a:fillRect t="-9943" b="-9943"/>
              </a:stretch>
            </a:blipFill>
          </p:spPr>
        </p:sp>
      </p:grpSp>
      <p:sp>
        <p:nvSpPr>
          <p:cNvPr id="9" name="TextBox 9"/>
          <p:cNvSpPr txBox="1"/>
          <p:nvPr/>
        </p:nvSpPr>
        <p:spPr>
          <a:xfrm>
            <a:off x="1299753" y="3358286"/>
            <a:ext cx="4826498" cy="111595"/>
          </a:xfrm>
          <a:prstGeom prst="rect">
            <a:avLst/>
          </a:prstGeom>
        </p:spPr>
        <p:txBody>
          <a:bodyPr lIns="0" tIns="0" rIns="0" bIns="0" rtlCol="0" anchor="t">
            <a:spAutoFit/>
          </a:bodyPr>
          <a:lstStyle/>
          <a:p>
            <a:pPr algn="l">
              <a:lnSpc>
                <a:spcPts val="2020"/>
              </a:lnSpc>
            </a:pPr>
            <a:r>
              <a:rPr lang="en-US" sz="4041" b="1">
                <a:solidFill>
                  <a:srgbClr val="343434"/>
                </a:solidFill>
                <a:latin typeface="Times New Roman Bold"/>
                <a:ea typeface="Times New Roman Bold"/>
                <a:cs typeface="Times New Roman Bold"/>
                <a:sym typeface="Times New Roman Bold"/>
              </a:rPr>
              <a:t>1. Use Case Diagram</a:t>
            </a:r>
          </a:p>
          <a:p>
            <a:pPr algn="ctr">
              <a:lnSpc>
                <a:spcPts val="2020"/>
              </a:lnSpc>
            </a:pPr>
            <a:endParaRPr lang="en-US" sz="4041" b="1">
              <a:solidFill>
                <a:srgbClr val="343434"/>
              </a:solidFill>
              <a:latin typeface="Times New Roman Bold"/>
              <a:ea typeface="Times New Roman Bold"/>
              <a:cs typeface="Times New Roman Bold"/>
              <a:sym typeface="Times New Roman Bold"/>
            </a:endParaRPr>
          </a:p>
        </p:txBody>
      </p:sp>
      <p:sp>
        <p:nvSpPr>
          <p:cNvPr id="10" name="TextBox 10"/>
          <p:cNvSpPr txBox="1"/>
          <p:nvPr/>
        </p:nvSpPr>
        <p:spPr>
          <a:xfrm>
            <a:off x="1285465" y="3899144"/>
            <a:ext cx="4774825" cy="1663293"/>
          </a:xfrm>
          <a:prstGeom prst="rect">
            <a:avLst/>
          </a:prstGeom>
        </p:spPr>
        <p:txBody>
          <a:bodyPr lIns="0" tIns="0" rIns="0" bIns="0" rtlCol="0" anchor="t">
            <a:spAutoFit/>
          </a:bodyPr>
          <a:lstStyle/>
          <a:p>
            <a:pPr algn="l">
              <a:lnSpc>
                <a:spcPts val="4397"/>
              </a:lnSpc>
              <a:spcBef>
                <a:spcPct val="0"/>
              </a:spcBef>
            </a:pPr>
            <a:r>
              <a:rPr lang="en-US" sz="3141" dirty="0">
                <a:solidFill>
                  <a:srgbClr val="343434"/>
                </a:solidFill>
                <a:latin typeface="Times New Roman"/>
                <a:ea typeface="Times New Roman"/>
                <a:cs typeface="Times New Roman"/>
                <a:sym typeface="Times New Roman"/>
              </a:rPr>
              <a:t>A diagram that shows how users (actors) interact with a system and its functionalities.</a:t>
            </a:r>
          </a:p>
        </p:txBody>
      </p:sp>
      <p:grpSp>
        <p:nvGrpSpPr>
          <p:cNvPr id="11" name="Group 11"/>
          <p:cNvGrpSpPr/>
          <p:nvPr/>
        </p:nvGrpSpPr>
        <p:grpSpPr>
          <a:xfrm>
            <a:off x="0" y="0"/>
            <a:ext cx="18288000" cy="2162175"/>
            <a:chOff x="0" y="0"/>
            <a:chExt cx="24384000" cy="2882900"/>
          </a:xfrm>
        </p:grpSpPr>
        <p:sp>
          <p:nvSpPr>
            <p:cNvPr id="12" name="Freeform 12"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4"/>
              <a:stretch>
                <a:fillRect/>
              </a:stretch>
            </a:blipFill>
          </p:spPr>
        </p:sp>
      </p:gr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325212">
            <a:off x="12244430" y="6854875"/>
            <a:ext cx="1388459" cy="1689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90811"/>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285465" y="2145192"/>
            <a:ext cx="6448720"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UML DIAGRAMS</a:t>
            </a:r>
          </a:p>
        </p:txBody>
      </p:sp>
      <p:grpSp>
        <p:nvGrpSpPr>
          <p:cNvPr id="5" name="Group 5"/>
          <p:cNvGrpSpPr/>
          <p:nvPr/>
        </p:nvGrpSpPr>
        <p:grpSpPr>
          <a:xfrm>
            <a:off x="1285465" y="2879969"/>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grpSp>
        <p:nvGrpSpPr>
          <p:cNvPr id="7" name="Group 7"/>
          <p:cNvGrpSpPr/>
          <p:nvPr/>
        </p:nvGrpSpPr>
        <p:grpSpPr>
          <a:xfrm>
            <a:off x="6111964" y="3162301"/>
            <a:ext cx="9805673" cy="6550934"/>
            <a:chOff x="0" y="0"/>
            <a:chExt cx="13074231" cy="8665985"/>
          </a:xfrm>
        </p:grpSpPr>
        <p:sp>
          <p:nvSpPr>
            <p:cNvPr id="8" name="Freeform 8"/>
            <p:cNvSpPr/>
            <p:nvPr/>
          </p:nvSpPr>
          <p:spPr>
            <a:xfrm>
              <a:off x="0" y="0"/>
              <a:ext cx="13074269" cy="8665972"/>
            </a:xfrm>
            <a:custGeom>
              <a:avLst/>
              <a:gdLst/>
              <a:ahLst/>
              <a:cxnLst/>
              <a:rect l="l" t="t" r="r" b="b"/>
              <a:pathLst>
                <a:path w="13074269" h="8665972">
                  <a:moveTo>
                    <a:pt x="0" y="0"/>
                  </a:moveTo>
                  <a:lnTo>
                    <a:pt x="13074269" y="0"/>
                  </a:lnTo>
                  <a:lnTo>
                    <a:pt x="13074269" y="8665972"/>
                  </a:lnTo>
                  <a:lnTo>
                    <a:pt x="0" y="8665972"/>
                  </a:lnTo>
                  <a:lnTo>
                    <a:pt x="0" y="0"/>
                  </a:lnTo>
                  <a:close/>
                </a:path>
              </a:pathLst>
            </a:custGeom>
            <a:blipFill>
              <a:blip r:embed="rId3"/>
              <a:stretch>
                <a:fillRect t="-4838" b="-4839"/>
              </a:stretch>
            </a:blipFill>
          </p:spPr>
        </p:sp>
      </p:grpSp>
      <p:sp>
        <p:nvSpPr>
          <p:cNvPr id="9" name="TextBox 9"/>
          <p:cNvSpPr txBox="1"/>
          <p:nvPr/>
        </p:nvSpPr>
        <p:spPr>
          <a:xfrm>
            <a:off x="1285465" y="3461395"/>
            <a:ext cx="4826498" cy="111595"/>
          </a:xfrm>
          <a:prstGeom prst="rect">
            <a:avLst/>
          </a:prstGeom>
        </p:spPr>
        <p:txBody>
          <a:bodyPr lIns="0" tIns="0" rIns="0" bIns="0" rtlCol="0" anchor="t">
            <a:spAutoFit/>
          </a:bodyPr>
          <a:lstStyle/>
          <a:p>
            <a:pPr algn="l">
              <a:lnSpc>
                <a:spcPts val="2020"/>
              </a:lnSpc>
            </a:pPr>
            <a:r>
              <a:rPr lang="en-US" sz="4041" b="1">
                <a:solidFill>
                  <a:srgbClr val="343434"/>
                </a:solidFill>
                <a:latin typeface="Times New Roman Bold"/>
                <a:ea typeface="Times New Roman Bold"/>
                <a:cs typeface="Times New Roman Bold"/>
                <a:sym typeface="Times New Roman Bold"/>
              </a:rPr>
              <a:t>2. Class Diagram</a:t>
            </a:r>
          </a:p>
          <a:p>
            <a:pPr algn="ctr">
              <a:lnSpc>
                <a:spcPts val="2020"/>
              </a:lnSpc>
            </a:pPr>
            <a:endParaRPr lang="en-US" sz="4041" b="1">
              <a:solidFill>
                <a:srgbClr val="343434"/>
              </a:solidFill>
              <a:latin typeface="Times New Roman Bold"/>
              <a:ea typeface="Times New Roman Bold"/>
              <a:cs typeface="Times New Roman Bold"/>
              <a:sym typeface="Times New Roman Bold"/>
            </a:endParaRPr>
          </a:p>
        </p:txBody>
      </p:sp>
      <p:sp>
        <p:nvSpPr>
          <p:cNvPr id="10" name="TextBox 10"/>
          <p:cNvSpPr txBox="1"/>
          <p:nvPr/>
        </p:nvSpPr>
        <p:spPr>
          <a:xfrm>
            <a:off x="1285465" y="3899144"/>
            <a:ext cx="4774825" cy="2768193"/>
          </a:xfrm>
          <a:prstGeom prst="rect">
            <a:avLst/>
          </a:prstGeom>
        </p:spPr>
        <p:txBody>
          <a:bodyPr lIns="0" tIns="0" rIns="0" bIns="0" rtlCol="0" anchor="t">
            <a:spAutoFit/>
          </a:bodyPr>
          <a:lstStyle/>
          <a:p>
            <a:pPr algn="l">
              <a:lnSpc>
                <a:spcPts val="4397"/>
              </a:lnSpc>
              <a:spcBef>
                <a:spcPct val="0"/>
              </a:spcBef>
            </a:pPr>
            <a:r>
              <a:rPr lang="en-US" sz="3141" dirty="0">
                <a:solidFill>
                  <a:srgbClr val="343434"/>
                </a:solidFill>
                <a:latin typeface="Times New Roman"/>
                <a:ea typeface="Times New Roman"/>
                <a:cs typeface="Times New Roman"/>
                <a:sym typeface="Times New Roman"/>
              </a:rPr>
              <a:t>A diagram that represents the structure of a system by showing classes, their attributes, methods, and relationships.</a:t>
            </a:r>
          </a:p>
        </p:txBody>
      </p:sp>
      <p:grpSp>
        <p:nvGrpSpPr>
          <p:cNvPr id="11" name="Group 11"/>
          <p:cNvGrpSpPr/>
          <p:nvPr/>
        </p:nvGrpSpPr>
        <p:grpSpPr>
          <a:xfrm>
            <a:off x="0" y="0"/>
            <a:ext cx="18288000" cy="2162175"/>
            <a:chOff x="0" y="0"/>
            <a:chExt cx="24384000" cy="2882900"/>
          </a:xfrm>
        </p:grpSpPr>
        <p:sp>
          <p:nvSpPr>
            <p:cNvPr id="12" name="Freeform 12"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4"/>
              <a:stretch>
                <a:fillRect/>
              </a:stretch>
            </a:blipFill>
          </p:spPr>
        </p:sp>
      </p:gr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4800" y="3147291"/>
            <a:ext cx="5725324" cy="2198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331308"/>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028700" y="1944217"/>
            <a:ext cx="6448720"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UML DIAGRAMS</a:t>
            </a:r>
          </a:p>
        </p:txBody>
      </p:sp>
      <p:grpSp>
        <p:nvGrpSpPr>
          <p:cNvPr id="5" name="Group 5"/>
          <p:cNvGrpSpPr/>
          <p:nvPr/>
        </p:nvGrpSpPr>
        <p:grpSpPr>
          <a:xfrm>
            <a:off x="1028700" y="2687569"/>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grpSp>
        <p:nvGrpSpPr>
          <p:cNvPr id="7" name="Group 7"/>
          <p:cNvGrpSpPr/>
          <p:nvPr/>
        </p:nvGrpSpPr>
        <p:grpSpPr>
          <a:xfrm>
            <a:off x="6396733" y="2970238"/>
            <a:ext cx="9881616" cy="6375844"/>
            <a:chOff x="0" y="0"/>
            <a:chExt cx="13175488" cy="8501126"/>
          </a:xfrm>
        </p:grpSpPr>
        <p:sp>
          <p:nvSpPr>
            <p:cNvPr id="8" name="Freeform 8"/>
            <p:cNvSpPr/>
            <p:nvPr/>
          </p:nvSpPr>
          <p:spPr>
            <a:xfrm>
              <a:off x="0" y="0"/>
              <a:ext cx="13175487" cy="8501126"/>
            </a:xfrm>
            <a:custGeom>
              <a:avLst/>
              <a:gdLst/>
              <a:ahLst/>
              <a:cxnLst/>
              <a:rect l="l" t="t" r="r" b="b"/>
              <a:pathLst>
                <a:path w="13175487" h="8501126">
                  <a:moveTo>
                    <a:pt x="0" y="0"/>
                  </a:moveTo>
                  <a:lnTo>
                    <a:pt x="13175487" y="0"/>
                  </a:lnTo>
                  <a:lnTo>
                    <a:pt x="13175487" y="8501126"/>
                  </a:lnTo>
                  <a:lnTo>
                    <a:pt x="0" y="8501126"/>
                  </a:lnTo>
                  <a:lnTo>
                    <a:pt x="0" y="0"/>
                  </a:lnTo>
                  <a:close/>
                </a:path>
              </a:pathLst>
            </a:custGeom>
            <a:blipFill>
              <a:blip r:embed="rId3"/>
              <a:stretch>
                <a:fillRect t="-3452" b="-3451"/>
              </a:stretch>
            </a:blipFill>
          </p:spPr>
        </p:sp>
      </p:grpSp>
      <p:sp>
        <p:nvSpPr>
          <p:cNvPr id="9" name="TextBox 9"/>
          <p:cNvSpPr txBox="1"/>
          <p:nvPr/>
        </p:nvSpPr>
        <p:spPr>
          <a:xfrm>
            <a:off x="1299753" y="3162090"/>
            <a:ext cx="4826498" cy="111595"/>
          </a:xfrm>
          <a:prstGeom prst="rect">
            <a:avLst/>
          </a:prstGeom>
        </p:spPr>
        <p:txBody>
          <a:bodyPr lIns="0" tIns="0" rIns="0" bIns="0" rtlCol="0" anchor="t">
            <a:spAutoFit/>
          </a:bodyPr>
          <a:lstStyle/>
          <a:p>
            <a:pPr algn="l">
              <a:lnSpc>
                <a:spcPts val="2020"/>
              </a:lnSpc>
            </a:pPr>
            <a:r>
              <a:rPr lang="en-US" sz="4041" b="1">
                <a:solidFill>
                  <a:srgbClr val="343434"/>
                </a:solidFill>
                <a:latin typeface="Times New Roman Bold"/>
                <a:ea typeface="Times New Roman Bold"/>
                <a:cs typeface="Times New Roman Bold"/>
                <a:sym typeface="Times New Roman Bold"/>
              </a:rPr>
              <a:t>3. Sequence Diagram</a:t>
            </a:r>
          </a:p>
          <a:p>
            <a:pPr algn="ctr">
              <a:lnSpc>
                <a:spcPts val="2020"/>
              </a:lnSpc>
            </a:pPr>
            <a:endParaRPr lang="en-US" sz="4041" b="1">
              <a:solidFill>
                <a:srgbClr val="343434"/>
              </a:solidFill>
              <a:latin typeface="Times New Roman Bold"/>
              <a:ea typeface="Times New Roman Bold"/>
              <a:cs typeface="Times New Roman Bold"/>
              <a:sym typeface="Times New Roman Bold"/>
            </a:endParaRPr>
          </a:p>
        </p:txBody>
      </p:sp>
      <p:sp>
        <p:nvSpPr>
          <p:cNvPr id="10" name="TextBox 10"/>
          <p:cNvSpPr txBox="1"/>
          <p:nvPr/>
        </p:nvSpPr>
        <p:spPr>
          <a:xfrm>
            <a:off x="1299753" y="3578485"/>
            <a:ext cx="4774825" cy="1663293"/>
          </a:xfrm>
          <a:prstGeom prst="rect">
            <a:avLst/>
          </a:prstGeom>
        </p:spPr>
        <p:txBody>
          <a:bodyPr lIns="0" tIns="0" rIns="0" bIns="0" rtlCol="0" anchor="t">
            <a:spAutoFit/>
          </a:bodyPr>
          <a:lstStyle/>
          <a:p>
            <a:pPr algn="l">
              <a:lnSpc>
                <a:spcPts val="4397"/>
              </a:lnSpc>
              <a:spcBef>
                <a:spcPct val="0"/>
              </a:spcBef>
            </a:pPr>
            <a:r>
              <a:rPr lang="en-US" sz="3141">
                <a:solidFill>
                  <a:srgbClr val="343434"/>
                </a:solidFill>
                <a:latin typeface="Times New Roman"/>
                <a:ea typeface="Times New Roman"/>
                <a:cs typeface="Times New Roman"/>
                <a:sym typeface="Times New Roman"/>
              </a:rPr>
              <a:t>A diagram that shows the order of interactions between objects over time.</a:t>
            </a:r>
          </a:p>
        </p:txBody>
      </p:sp>
      <p:grpSp>
        <p:nvGrpSpPr>
          <p:cNvPr id="11" name="Group 11"/>
          <p:cNvGrpSpPr/>
          <p:nvPr/>
        </p:nvGrpSpPr>
        <p:grpSpPr>
          <a:xfrm>
            <a:off x="0" y="-52388"/>
            <a:ext cx="18288000" cy="2162175"/>
            <a:chOff x="0" y="0"/>
            <a:chExt cx="24384000" cy="2882900"/>
          </a:xfrm>
        </p:grpSpPr>
        <p:sp>
          <p:nvSpPr>
            <p:cNvPr id="12" name="Freeform 12"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4"/>
              <a:stretch>
                <a:fillRect/>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626993"/>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285465" y="1917744"/>
            <a:ext cx="6448720" cy="734778"/>
          </a:xfrm>
          <a:prstGeom prst="rect">
            <a:avLst/>
          </a:prstGeom>
        </p:spPr>
        <p:txBody>
          <a:bodyPr lIns="0" tIns="0" rIns="0" bIns="0" rtlCol="0" anchor="t">
            <a:spAutoFit/>
          </a:bodyPr>
          <a:lstStyle/>
          <a:p>
            <a:pPr algn="l">
              <a:lnSpc>
                <a:spcPts val="6051"/>
              </a:lnSpc>
            </a:pPr>
            <a:r>
              <a:rPr lang="en-US" sz="6239" b="1">
                <a:solidFill>
                  <a:srgbClr val="343434"/>
                </a:solidFill>
                <a:latin typeface="Times New Roman Bold"/>
                <a:ea typeface="Times New Roman Bold"/>
                <a:cs typeface="Times New Roman Bold"/>
                <a:sym typeface="Times New Roman Bold"/>
              </a:rPr>
              <a:t>UML DIAGRAMS</a:t>
            </a:r>
          </a:p>
        </p:txBody>
      </p:sp>
      <p:grpSp>
        <p:nvGrpSpPr>
          <p:cNvPr id="5" name="Group 5"/>
          <p:cNvGrpSpPr/>
          <p:nvPr/>
        </p:nvGrpSpPr>
        <p:grpSpPr>
          <a:xfrm>
            <a:off x="1285465" y="2604887"/>
            <a:ext cx="14708124" cy="47635"/>
            <a:chOff x="0" y="0"/>
            <a:chExt cx="19610832" cy="63513"/>
          </a:xfrm>
        </p:grpSpPr>
        <p:sp>
          <p:nvSpPr>
            <p:cNvPr id="6" name="Freeform 6"/>
            <p:cNvSpPr/>
            <p:nvPr/>
          </p:nvSpPr>
          <p:spPr>
            <a:xfrm>
              <a:off x="0" y="0"/>
              <a:ext cx="19610832" cy="63500"/>
            </a:xfrm>
            <a:custGeom>
              <a:avLst/>
              <a:gdLst/>
              <a:ahLst/>
              <a:cxnLst/>
              <a:rect l="l" t="t" r="r" b="b"/>
              <a:pathLst>
                <a:path w="19610832" h="63500">
                  <a:moveTo>
                    <a:pt x="19050" y="0"/>
                  </a:moveTo>
                  <a:lnTo>
                    <a:pt x="19591782" y="36322"/>
                  </a:lnTo>
                  <a:cubicBezTo>
                    <a:pt x="19602323" y="36322"/>
                    <a:pt x="19610832" y="42545"/>
                    <a:pt x="19610832" y="49911"/>
                  </a:cubicBezTo>
                  <a:cubicBezTo>
                    <a:pt x="19610832" y="57277"/>
                    <a:pt x="19602196" y="63500"/>
                    <a:pt x="19591782" y="63500"/>
                  </a:cubicBezTo>
                  <a:lnTo>
                    <a:pt x="19050" y="27178"/>
                  </a:lnTo>
                  <a:cubicBezTo>
                    <a:pt x="8509" y="27178"/>
                    <a:pt x="0" y="21082"/>
                    <a:pt x="0" y="13589"/>
                  </a:cubicBezTo>
                  <a:cubicBezTo>
                    <a:pt x="0" y="6096"/>
                    <a:pt x="8636" y="0"/>
                    <a:pt x="19050" y="0"/>
                  </a:cubicBezTo>
                  <a:close/>
                </a:path>
              </a:pathLst>
            </a:custGeom>
            <a:solidFill>
              <a:srgbClr val="000000"/>
            </a:solidFill>
          </p:spPr>
        </p:sp>
      </p:grpSp>
      <p:grpSp>
        <p:nvGrpSpPr>
          <p:cNvPr id="7" name="Group 7"/>
          <p:cNvGrpSpPr/>
          <p:nvPr/>
        </p:nvGrpSpPr>
        <p:grpSpPr>
          <a:xfrm>
            <a:off x="6864584" y="2928747"/>
            <a:ext cx="5913501" cy="6818262"/>
            <a:chOff x="0" y="0"/>
            <a:chExt cx="7884668" cy="9091016"/>
          </a:xfrm>
        </p:grpSpPr>
        <p:sp>
          <p:nvSpPr>
            <p:cNvPr id="8" name="Freeform 8"/>
            <p:cNvSpPr/>
            <p:nvPr/>
          </p:nvSpPr>
          <p:spPr>
            <a:xfrm>
              <a:off x="0" y="0"/>
              <a:ext cx="7884668" cy="9091041"/>
            </a:xfrm>
            <a:custGeom>
              <a:avLst/>
              <a:gdLst/>
              <a:ahLst/>
              <a:cxnLst/>
              <a:rect l="l" t="t" r="r" b="b"/>
              <a:pathLst>
                <a:path w="7884668" h="9091041">
                  <a:moveTo>
                    <a:pt x="0" y="0"/>
                  </a:moveTo>
                  <a:lnTo>
                    <a:pt x="7884668" y="0"/>
                  </a:lnTo>
                  <a:lnTo>
                    <a:pt x="7884668" y="9091041"/>
                  </a:lnTo>
                  <a:lnTo>
                    <a:pt x="0" y="9091041"/>
                  </a:lnTo>
                  <a:lnTo>
                    <a:pt x="0" y="0"/>
                  </a:lnTo>
                  <a:close/>
                </a:path>
              </a:pathLst>
            </a:custGeom>
            <a:blipFill>
              <a:blip r:embed="rId3"/>
              <a:stretch>
                <a:fillRect l="-1170" r="-1170"/>
              </a:stretch>
            </a:blipFill>
          </p:spPr>
        </p:sp>
      </p:grpSp>
      <p:sp>
        <p:nvSpPr>
          <p:cNvPr id="9" name="TextBox 9"/>
          <p:cNvSpPr txBox="1"/>
          <p:nvPr/>
        </p:nvSpPr>
        <p:spPr>
          <a:xfrm>
            <a:off x="1285465" y="3273200"/>
            <a:ext cx="4318496" cy="606895"/>
          </a:xfrm>
          <a:prstGeom prst="rect">
            <a:avLst/>
          </a:prstGeom>
        </p:spPr>
        <p:txBody>
          <a:bodyPr lIns="0" tIns="0" rIns="0" bIns="0" rtlCol="0" anchor="t">
            <a:spAutoFit/>
          </a:bodyPr>
          <a:lstStyle/>
          <a:p>
            <a:pPr algn="l">
              <a:lnSpc>
                <a:spcPts val="2020"/>
              </a:lnSpc>
            </a:pPr>
            <a:r>
              <a:rPr lang="en-US" sz="4041" b="1">
                <a:solidFill>
                  <a:srgbClr val="343434"/>
                </a:solidFill>
                <a:latin typeface="Times New Roman Bold"/>
                <a:ea typeface="Times New Roman Bold"/>
                <a:cs typeface="Times New Roman Bold"/>
                <a:sym typeface="Times New Roman Bold"/>
              </a:rPr>
              <a:t>4. Activity Diagram</a:t>
            </a:r>
          </a:p>
          <a:p>
            <a:pPr algn="ctr">
              <a:lnSpc>
                <a:spcPts val="2020"/>
              </a:lnSpc>
            </a:pPr>
            <a:endParaRPr lang="en-US" sz="4041" b="1">
              <a:solidFill>
                <a:srgbClr val="343434"/>
              </a:solidFill>
              <a:latin typeface="Times New Roman Bold"/>
              <a:ea typeface="Times New Roman Bold"/>
              <a:cs typeface="Times New Roman Bold"/>
              <a:sym typeface="Times New Roman Bold"/>
            </a:endParaRPr>
          </a:p>
        </p:txBody>
      </p:sp>
      <p:sp>
        <p:nvSpPr>
          <p:cNvPr id="10" name="TextBox 10"/>
          <p:cNvSpPr txBox="1"/>
          <p:nvPr/>
        </p:nvSpPr>
        <p:spPr>
          <a:xfrm>
            <a:off x="1285465" y="3794369"/>
            <a:ext cx="4774825" cy="1663293"/>
          </a:xfrm>
          <a:prstGeom prst="rect">
            <a:avLst/>
          </a:prstGeom>
        </p:spPr>
        <p:txBody>
          <a:bodyPr lIns="0" tIns="0" rIns="0" bIns="0" rtlCol="0" anchor="t">
            <a:spAutoFit/>
          </a:bodyPr>
          <a:lstStyle/>
          <a:p>
            <a:pPr algn="l">
              <a:lnSpc>
                <a:spcPts val="4397"/>
              </a:lnSpc>
              <a:spcBef>
                <a:spcPct val="0"/>
              </a:spcBef>
            </a:pPr>
            <a:r>
              <a:rPr lang="en-US" sz="3141" dirty="0">
                <a:solidFill>
                  <a:srgbClr val="343434"/>
                </a:solidFill>
                <a:latin typeface="Times New Roman"/>
                <a:ea typeface="Times New Roman"/>
                <a:cs typeface="Times New Roman"/>
                <a:sym typeface="Times New Roman"/>
              </a:rPr>
              <a:t>A diagram that represents the flow of activities or steps in a process or </a:t>
            </a:r>
            <a:r>
              <a:rPr lang="en-US" sz="3141" dirty="0" smtClean="0">
                <a:solidFill>
                  <a:srgbClr val="343434"/>
                </a:solidFill>
                <a:latin typeface="Times New Roman"/>
                <a:ea typeface="Times New Roman"/>
                <a:cs typeface="Times New Roman"/>
                <a:sym typeface="Times New Roman"/>
              </a:rPr>
              <a:t>workflow.</a:t>
            </a:r>
            <a:endParaRPr lang="en-US" sz="3141" dirty="0">
              <a:solidFill>
                <a:srgbClr val="343434"/>
              </a:solidFill>
              <a:latin typeface="Times New Roman"/>
              <a:ea typeface="Times New Roman"/>
              <a:cs typeface="Times New Roman"/>
              <a:sym typeface="Times New Roman"/>
            </a:endParaRPr>
          </a:p>
        </p:txBody>
      </p:sp>
      <p:grpSp>
        <p:nvGrpSpPr>
          <p:cNvPr id="11" name="Group 11"/>
          <p:cNvGrpSpPr/>
          <p:nvPr/>
        </p:nvGrpSpPr>
        <p:grpSpPr>
          <a:xfrm>
            <a:off x="0" y="-52388"/>
            <a:ext cx="18288000" cy="2162175"/>
            <a:chOff x="0" y="0"/>
            <a:chExt cx="24384000" cy="2882900"/>
          </a:xfrm>
        </p:grpSpPr>
        <p:sp>
          <p:nvSpPr>
            <p:cNvPr id="12" name="Freeform 12"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4"/>
              <a:stretch>
                <a:fillRect/>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250679"/>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t="-114807" b="-114807"/>
              </a:stretch>
            </a:blipFill>
          </p:spPr>
        </p:sp>
      </p:grpSp>
      <p:sp>
        <p:nvSpPr>
          <p:cNvPr id="4" name="TextBox 4"/>
          <p:cNvSpPr txBox="1"/>
          <p:nvPr/>
        </p:nvSpPr>
        <p:spPr>
          <a:xfrm>
            <a:off x="1316174" y="2121046"/>
            <a:ext cx="6913426" cy="664664"/>
          </a:xfrm>
          <a:prstGeom prst="rect">
            <a:avLst/>
          </a:prstGeom>
        </p:spPr>
        <p:txBody>
          <a:bodyPr lIns="0" tIns="0" rIns="0" bIns="0" rtlCol="0" anchor="t">
            <a:spAutoFit/>
          </a:bodyPr>
          <a:lstStyle/>
          <a:p>
            <a:pPr algn="l">
              <a:lnSpc>
                <a:spcPts val="5953"/>
              </a:lnSpc>
            </a:pPr>
            <a:r>
              <a:rPr lang="en-US" sz="6138" b="1">
                <a:solidFill>
                  <a:srgbClr val="343434"/>
                </a:solidFill>
                <a:latin typeface="Times New Roman Bold"/>
                <a:ea typeface="Times New Roman Bold"/>
                <a:cs typeface="Times New Roman Bold"/>
                <a:sym typeface="Times New Roman Bold"/>
              </a:rPr>
              <a:t>CONCLUSION</a:t>
            </a:r>
          </a:p>
        </p:txBody>
      </p:sp>
      <p:grpSp>
        <p:nvGrpSpPr>
          <p:cNvPr id="5" name="Group 5"/>
          <p:cNvGrpSpPr/>
          <p:nvPr/>
        </p:nvGrpSpPr>
        <p:grpSpPr>
          <a:xfrm>
            <a:off x="1316174" y="2843374"/>
            <a:ext cx="14708124" cy="66675"/>
            <a:chOff x="0" y="0"/>
            <a:chExt cx="19610832" cy="88900"/>
          </a:xfrm>
        </p:grpSpPr>
        <p:sp>
          <p:nvSpPr>
            <p:cNvPr id="6" name="Freeform 6"/>
            <p:cNvSpPr/>
            <p:nvPr/>
          </p:nvSpPr>
          <p:spPr>
            <a:xfrm>
              <a:off x="0" y="0"/>
              <a:ext cx="19610832" cy="88900"/>
            </a:xfrm>
            <a:custGeom>
              <a:avLst/>
              <a:gdLst/>
              <a:ahLst/>
              <a:cxnLst/>
              <a:rect l="l" t="t" r="r" b="b"/>
              <a:pathLst>
                <a:path w="19610832" h="88900">
                  <a:moveTo>
                    <a:pt x="19050" y="0"/>
                  </a:moveTo>
                  <a:lnTo>
                    <a:pt x="19591782" y="50800"/>
                  </a:lnTo>
                  <a:cubicBezTo>
                    <a:pt x="19602323" y="50800"/>
                    <a:pt x="19610832" y="59436"/>
                    <a:pt x="19610832" y="69850"/>
                  </a:cubicBezTo>
                  <a:cubicBezTo>
                    <a:pt x="19610832" y="80264"/>
                    <a:pt x="19602196" y="88900"/>
                    <a:pt x="19591782" y="88900"/>
                  </a:cubicBezTo>
                  <a:lnTo>
                    <a:pt x="19050" y="38100"/>
                  </a:lnTo>
                  <a:cubicBezTo>
                    <a:pt x="8509" y="38100"/>
                    <a:pt x="0" y="29464"/>
                    <a:pt x="0" y="19050"/>
                  </a:cubicBezTo>
                  <a:cubicBezTo>
                    <a:pt x="0" y="8636"/>
                    <a:pt x="8636" y="0"/>
                    <a:pt x="19050" y="0"/>
                  </a:cubicBezTo>
                  <a:close/>
                </a:path>
              </a:pathLst>
            </a:custGeom>
            <a:solidFill>
              <a:srgbClr val="000000"/>
            </a:solidFill>
          </p:spPr>
        </p:sp>
      </p:grpSp>
      <p:sp>
        <p:nvSpPr>
          <p:cNvPr id="7" name="TextBox 7"/>
          <p:cNvSpPr txBox="1"/>
          <p:nvPr/>
        </p:nvSpPr>
        <p:spPr>
          <a:xfrm>
            <a:off x="1344749" y="3020197"/>
            <a:ext cx="14679511" cy="5955744"/>
          </a:xfrm>
          <a:prstGeom prst="rect">
            <a:avLst/>
          </a:prstGeom>
        </p:spPr>
        <p:txBody>
          <a:bodyPr lIns="0" tIns="0" rIns="0" bIns="0" rtlCol="0" anchor="t">
            <a:spAutoFit/>
          </a:bodyPr>
          <a:lstStyle/>
          <a:p>
            <a:pPr algn="just">
              <a:lnSpc>
                <a:spcPts val="4578"/>
              </a:lnSpc>
            </a:pPr>
            <a:r>
              <a:rPr lang="en-US" sz="3270" spc="162" dirty="0">
                <a:solidFill>
                  <a:srgbClr val="343434"/>
                </a:solidFill>
                <a:latin typeface="Times New Roman"/>
                <a:ea typeface="Times New Roman"/>
                <a:cs typeface="Times New Roman"/>
                <a:sym typeface="Times New Roman"/>
              </a:rPr>
              <a:t>The proposed Unsupervised and Semi-Supervised Machine Learning Frameworks provide an efficient and intelligent solution for multiclass tool wear recognition in manufacturing systems. By reducing dependency on labeled data and integrating data from multiple sensors, the system ensures accurate and reliable tool condition monitoring. The combination of advanced algorithms such as SAE, SSAE, SOM, SVM, and Random Forest enables effective detection of wear progression and supports predictive maintenance strategies. The framework is scalable, cost-effective, and adaptable, making it highly suitable for real-world industrial applications in smart manufacturing.</a:t>
            </a:r>
          </a:p>
          <a:p>
            <a:pPr algn="just">
              <a:lnSpc>
                <a:spcPts val="4578"/>
              </a:lnSpc>
            </a:pPr>
            <a:endParaRPr lang="en-US" sz="3270" spc="162" dirty="0">
              <a:solidFill>
                <a:srgbClr val="343434"/>
              </a:solidFill>
              <a:latin typeface="Times New Roman"/>
              <a:ea typeface="Times New Roman"/>
              <a:cs typeface="Times New Roman"/>
              <a:sym typeface="Times New Roman"/>
            </a:endParaRPr>
          </a:p>
        </p:txBody>
      </p:sp>
      <p:grpSp>
        <p:nvGrpSpPr>
          <p:cNvPr id="8" name="Group 8"/>
          <p:cNvGrpSpPr/>
          <p:nvPr/>
        </p:nvGrpSpPr>
        <p:grpSpPr>
          <a:xfrm>
            <a:off x="0" y="-52388"/>
            <a:ext cx="18288000" cy="2162175"/>
            <a:chOff x="0" y="0"/>
            <a:chExt cx="24384000" cy="2882900"/>
          </a:xfrm>
        </p:grpSpPr>
        <p:sp>
          <p:nvSpPr>
            <p:cNvPr id="9" name="Freeform 9"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3"/>
              <a:stretch>
                <a:fillRect/>
              </a:stretch>
            </a:blipFill>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62175"/>
            <a:chOff x="0" y="0"/>
            <a:chExt cx="24384000" cy="2882900"/>
          </a:xfrm>
        </p:grpSpPr>
        <p:sp>
          <p:nvSpPr>
            <p:cNvPr id="3" name="Freeform 3" descr="C0-HD-TOP.png"/>
            <p:cNvSpPr/>
            <p:nvPr/>
          </p:nvSpPr>
          <p:spPr>
            <a:xfrm>
              <a:off x="0" y="0"/>
              <a:ext cx="24384000" cy="2882900"/>
            </a:xfrm>
            <a:custGeom>
              <a:avLst/>
              <a:gdLst/>
              <a:ahLst/>
              <a:cxnLst/>
              <a:rect l="l" t="t" r="r" b="b"/>
              <a:pathLst>
                <a:path w="24384000" h="2882900">
                  <a:moveTo>
                    <a:pt x="0" y="0"/>
                  </a:moveTo>
                  <a:lnTo>
                    <a:pt x="24384000" y="0"/>
                  </a:lnTo>
                  <a:lnTo>
                    <a:pt x="24384000" y="2882900"/>
                  </a:lnTo>
                  <a:lnTo>
                    <a:pt x="0" y="2882900"/>
                  </a:lnTo>
                  <a:lnTo>
                    <a:pt x="0" y="0"/>
                  </a:lnTo>
                  <a:close/>
                </a:path>
              </a:pathLst>
            </a:custGeom>
            <a:blipFill>
              <a:blip r:embed="rId2"/>
              <a:stretch>
                <a:fillRect/>
              </a:stretch>
            </a:blipFill>
          </p:spPr>
        </p:sp>
      </p:grpSp>
      <p:sp>
        <p:nvSpPr>
          <p:cNvPr id="4" name="TextBox 4"/>
          <p:cNvSpPr txBox="1"/>
          <p:nvPr/>
        </p:nvSpPr>
        <p:spPr>
          <a:xfrm>
            <a:off x="6649298" y="4983356"/>
            <a:ext cx="4989405" cy="585540"/>
          </a:xfrm>
          <a:prstGeom prst="rect">
            <a:avLst/>
          </a:prstGeom>
        </p:spPr>
        <p:txBody>
          <a:bodyPr lIns="0" tIns="0" rIns="0" bIns="0" rtlCol="0" anchor="t">
            <a:spAutoFit/>
          </a:bodyPr>
          <a:lstStyle/>
          <a:p>
            <a:pPr algn="l">
              <a:lnSpc>
                <a:spcPts val="6208"/>
              </a:lnSpc>
            </a:pPr>
            <a:r>
              <a:rPr lang="en-US" sz="6400" b="1">
                <a:solidFill>
                  <a:srgbClr val="343434"/>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892</Words>
  <Application>Microsoft Office PowerPoint</Application>
  <PresentationFormat>Custom</PresentationFormat>
  <Paragraphs>82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Times New Roman</vt:lpstr>
      <vt:lpstr>Times New Roman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PPT - Group 6</dc:title>
  <cp:lastModifiedBy>SHIVA REDDY</cp:lastModifiedBy>
  <cp:revision>4</cp:revision>
  <dcterms:created xsi:type="dcterms:W3CDTF">2006-08-16T00:00:00Z</dcterms:created>
  <dcterms:modified xsi:type="dcterms:W3CDTF">2026-03-27T08:45:22Z</dcterms:modified>
  <dc:identifier>DAHFHEJr02M</dc:identifier>
</cp:coreProperties>
</file>